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2.xml" ContentType="application/vnd.openxmlformats-officedocument.presentationml.tags+xml"/>
  <Override PartName="/ppt/notesSlides/notesSlide17.xml" ContentType="application/vnd.openxmlformats-officedocument.presentationml.notesSlide+xml"/>
  <Override PartName="/ppt/tags/tag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4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9" r:id="rId1"/>
  </p:sldMasterIdLst>
  <p:notesMasterIdLst>
    <p:notesMasterId r:id="rId42"/>
  </p:notesMasterIdLst>
  <p:handoutMasterIdLst>
    <p:handoutMasterId r:id="rId43"/>
  </p:handoutMasterIdLst>
  <p:sldIdLst>
    <p:sldId id="257" r:id="rId2"/>
    <p:sldId id="312" r:id="rId3"/>
    <p:sldId id="313" r:id="rId4"/>
    <p:sldId id="314" r:id="rId5"/>
    <p:sldId id="318" r:id="rId6"/>
    <p:sldId id="344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4" r:id="rId15"/>
    <p:sldId id="362" r:id="rId16"/>
    <p:sldId id="363" r:id="rId17"/>
    <p:sldId id="365" r:id="rId18"/>
    <p:sldId id="337" r:id="rId19"/>
    <p:sldId id="366" r:id="rId20"/>
    <p:sldId id="367" r:id="rId21"/>
    <p:sldId id="369" r:id="rId22"/>
    <p:sldId id="374" r:id="rId23"/>
    <p:sldId id="376" r:id="rId24"/>
    <p:sldId id="371" r:id="rId25"/>
    <p:sldId id="373" r:id="rId26"/>
    <p:sldId id="370" r:id="rId27"/>
    <p:sldId id="352" r:id="rId28"/>
    <p:sldId id="375" r:id="rId29"/>
    <p:sldId id="333" r:id="rId30"/>
    <p:sldId id="328" r:id="rId31"/>
    <p:sldId id="334" r:id="rId32"/>
    <p:sldId id="336" r:id="rId33"/>
    <p:sldId id="338" r:id="rId34"/>
    <p:sldId id="332" r:id="rId35"/>
    <p:sldId id="330" r:id="rId36"/>
    <p:sldId id="329" r:id="rId37"/>
    <p:sldId id="331" r:id="rId38"/>
    <p:sldId id="325" r:id="rId39"/>
    <p:sldId id="326" r:id="rId40"/>
    <p:sldId id="37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49FF"/>
    <a:srgbClr val="FD8F04"/>
    <a:srgbClr val="EC46A4"/>
    <a:srgbClr val="FFFD78"/>
    <a:srgbClr val="FFFC00"/>
    <a:srgbClr val="FAE1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28"/>
    <p:restoredTop sz="82297"/>
  </p:normalViewPr>
  <p:slideViewPr>
    <p:cSldViewPr snapToGrid="0" snapToObjects="1">
      <p:cViewPr varScale="1">
        <p:scale>
          <a:sx n="91" d="100"/>
          <a:sy n="91" d="100"/>
        </p:scale>
        <p:origin x="-152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402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069585-3205-E047-8E3D-8BE4632A3B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17373-23A9-DB4A-8E8A-0CF7AB6ED1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9C595-4618-AD43-93E9-236F3A5833B2}" type="datetimeFigureOut">
              <a:rPr lang="en-US" smtClean="0"/>
              <a:t>11/7/23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ABC78-EB33-5140-99D8-7A61A09CE5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EE79B-D8AB-E344-8778-98BC2B829E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65ADE-52D4-4F4E-870C-DCE42771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71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6DFCA-91E1-BA4F-B1A1-AF6282E2C44B}" type="datetimeFigureOut">
              <a:rPr lang="en-US" smtClean="0"/>
              <a:t>11/7/23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FCBF4-1B56-AB45-BA5C-F927353F3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0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33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Recent advances in cloud computing have facilitated a paradigm shift in data storage on third party servers. Though cloud storage is convenient and cost-effective, sensitive data, such as medical or financial records, can be compromised in such environments.</a:t>
            </a:r>
          </a:p>
          <a:p>
            <a:endParaRPr lang="en-US" dirty="0"/>
          </a:p>
          <a:p>
            <a:r>
              <a:rPr lang="en-US" dirty="0"/>
              <a:t>Of course we don’t really care if google figures out our caffeine fix but it becomes a serious threat when the search involves exchanging some Medical financial records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42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demonstrates a scenario of querying a record, where the client needs to compute a function f on some private data x. In order to securely do this, the client sends an encrypted version of x, (E</a:t>
            </a:r>
            <a:r>
              <a:rPr lang="en-US" b="0" i="0" u="none" strike="noStrike" dirty="0">
                <a:effectLst/>
                <a:latin typeface="Courier New" panose="02070309020205020404" pitchFamily="49" charset="0"/>
              </a:rPr>
              <a:t>(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x</a:t>
            </a:r>
            <a:r>
              <a:rPr lang="en-US" b="0" i="0" u="none" strike="noStrike" dirty="0">
                <a:effectLst/>
                <a:latin typeface="Courier New" panose="02070309020205020404" pitchFamily="49" charset="0"/>
              </a:rPr>
              <a:t>)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), to the server. The server then computes f </a:t>
            </a:r>
            <a:r>
              <a:rPr lang="en-US" b="0" i="0" u="none" strike="noStrike" dirty="0">
                <a:effectLst/>
                <a:latin typeface="Courier New" panose="02070309020205020404" pitchFamily="49" charset="0"/>
              </a:rPr>
              <a:t>(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E</a:t>
            </a:r>
            <a:r>
              <a:rPr lang="en-US" b="0" i="0" u="none" strike="noStrike" dirty="0">
                <a:effectLst/>
                <a:latin typeface="Courier New" panose="02070309020205020404" pitchFamily="49" charset="0"/>
              </a:rPr>
              <a:t>(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x</a:t>
            </a:r>
            <a:r>
              <a:rPr lang="en-US" b="0" i="0" u="none" strike="noStrike" dirty="0">
                <a:effectLst/>
                <a:latin typeface="Courier New" panose="02070309020205020404" pitchFamily="49" charset="0"/>
              </a:rPr>
              <a:t>)) 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over the encrypted data, and sends the result to the client. The client possesses the secret key used for decrypting the result. This process ensures that x is never compromised even when</a:t>
            </a:r>
            <a:br>
              <a:rPr lang="en-US" dirty="0"/>
            </a:b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being sent to the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12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5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00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5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29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66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192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2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09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580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46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 constrained on hardware side. Residue polynomial-level parallelism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38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24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741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53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55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119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Peak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099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u="none" strike="noStrike" dirty="0">
                <a:solidFill>
                  <a:srgbClr val="292929"/>
                </a:solidFill>
                <a:effectLst/>
                <a:latin typeface="source-serif-pro"/>
              </a:rPr>
              <a:t>Top-k score – </a:t>
            </a:r>
            <a:r>
              <a:rPr lang="en-US" b="0" i="0" u="none" strike="noStrike" dirty="0">
                <a:solidFill>
                  <a:srgbClr val="292929"/>
                </a:solidFill>
                <a:effectLst/>
                <a:latin typeface="source-serif-pro"/>
              </a:rPr>
              <a:t>How often the predicted class falls in the top-k highest probabilities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877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Possible low-overhead obfuscation techniques based on application semantics.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FCBF4-1B56-AB45-BA5C-F927353F34D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62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6040-53F6-E344-82A1-64B378B89FAA}" type="datetime1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0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8E673-5FB7-0D45-9D57-A1D2280E731E}" type="datetime1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latin typeface="Palatino Linotype" panose="02040502050505030304" pitchFamily="18" charset="0"/>
              </a:defRPr>
            </a:lvl1pPr>
          </a:lstStyle>
          <a:p>
            <a:fld id="{70C38C08-47C7-4847-B0BE-B9D8DEEB3D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85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C0DDB-49FE-B94A-AD92-97CF55D366AF}" type="datetime1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0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88F8-142D-0B47-B8D2-CC6686997735}" type="datetime1">
              <a:rPr lang="en-US" smtClean="0"/>
              <a:t>11/7/23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7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03852-7C85-C649-9492-80D8D1717C5E}" type="datetime1">
              <a:rPr lang="en-US" smtClean="0"/>
              <a:t>11/7/23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5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99B46-70E4-3140-B5F1-3139813346FB}" type="datetime1">
              <a:rPr lang="en-US" smtClean="0"/>
              <a:t>11/7/23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7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3C06-47A5-014E-B7C8-84E53D453654}" type="datetime1">
              <a:rPr lang="en-US" smtClean="0"/>
              <a:t>11/7/23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2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3E57E-2486-B544-A66B-EA90C6C854B3}" type="datetime1">
              <a:rPr lang="en-US" smtClean="0"/>
              <a:t>11/7/23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0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036F-3001-EC40-BBB5-E10C276791A1}" type="datetime1">
              <a:rPr lang="en-US" smtClean="0"/>
              <a:t>11/7/23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6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2636-B9B5-0D47-8054-3435E8F37559}" type="datetime1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23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75A4-DC28-1345-A0D3-10ADADF85E49}" type="datetime1">
              <a:rPr lang="en-US" smtClean="0"/>
              <a:t>11/7/23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0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295610"/>
            <a:ext cx="10363200" cy="13144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1856912"/>
            <a:ext cx="10363200" cy="3088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38454" y="61972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6EF85C2F-799C-0249-B360-87CE37E48EE1}" type="datetime1">
              <a:rPr lang="en-US" smtClean="0"/>
              <a:t>11/7/23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60198" y="6197265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7586" y="6198115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 cap="all" spc="30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defRPr>
            </a:lvl1pPr>
          </a:lstStyle>
          <a:p>
            <a:fld id="{70C38C08-47C7-4847-B0BE-B9D8DEEB3D1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CB19705-E3DA-FA4D-B60E-BABF521F68F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123595" y="6151172"/>
            <a:ext cx="2054958" cy="69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4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8" r:id="rId10"/>
    <p:sldLayoutId id="2147483847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SzPct val="87000"/>
        <a:buFontTx/>
        <a:buNone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SzPct val="87000"/>
        <a:buFontTx/>
        <a:buNone/>
        <a:defRPr sz="1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9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dtrilla.github.io/discc-workshop-2022/assets/pdfs/4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4E08AEA5-C0B1-4CCA-AE82-246BBB1092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15732"/>
          <a:stretch/>
        </p:blipFill>
        <p:spPr>
          <a:xfrm>
            <a:off x="1" y="152"/>
            <a:ext cx="12191999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52F500-C916-8D44-9C19-BCE6AFCC1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8194" y="1371600"/>
            <a:ext cx="6229082" cy="2933952"/>
          </a:xfrm>
        </p:spPr>
        <p:txBody>
          <a:bodyPr anchor="t"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FHE applications for future systems</a:t>
            </a:r>
            <a:endParaRPr lang="en-US" sz="4800" dirty="0">
              <a:solidFill>
                <a:srgbClr val="FFFFFF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E2DF1-0692-A646-82F4-1E9224279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245" y="4539112"/>
            <a:ext cx="6701031" cy="1287887"/>
          </a:xfrm>
        </p:spPr>
        <p:txBody>
          <a:bodyPr anchor="b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Palatino Linotype" panose="02040502050505030304" pitchFamily="18" charset="0"/>
                <a:cs typeface="Times New Roman" panose="02020603050405020304" pitchFamily="18" charset="0"/>
              </a:rPr>
              <a:t>Asmita </a:t>
            </a:r>
            <a:r>
              <a:rPr lang="en-US" sz="1300" b="1" dirty="0" err="1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Palatino Linotype" panose="02040502050505030304" pitchFamily="18" charset="0"/>
                <a:cs typeface="Times New Roman" panose="02020603050405020304" pitchFamily="18" charset="0"/>
              </a:rPr>
              <a:t>PaL</a:t>
            </a:r>
            <a:endParaRPr lang="en-US" sz="1300" b="1" dirty="0">
              <a:solidFill>
                <a:srgbClr val="FFFFFF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Palatino Linotype" panose="02040502050505030304" pitchFamily="18" charset="0"/>
                <a:cs typeface="Times New Roman" panose="02020603050405020304" pitchFamily="18" charset="0"/>
              </a:rPr>
              <a:t>Advisor: Prof. Joshua San Miguel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30CDD-F8B4-AE46-A4B5-209E64838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1076ED0-0DB3-4879-AAE5-5C20D22C1DF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DB53F68C-6C60-4B47-92C2-8AC991318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896" y="-1066"/>
            <a:ext cx="2054958" cy="69243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447606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DE6D-43DB-534D-BDEF-89A46D48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E068-B2D0-694B-9AA2-9CB739C55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628" y="1990727"/>
            <a:ext cx="10363200" cy="3088460"/>
          </a:xfrm>
        </p:spPr>
        <p:txBody>
          <a:bodyPr/>
          <a:lstStyle/>
          <a:p>
            <a:r>
              <a:rPr lang="en-US" dirty="0"/>
              <a:t>Risk of Outsourced Computation </a:t>
            </a:r>
          </a:p>
          <a:p>
            <a:r>
              <a:rPr lang="en-US" dirty="0"/>
              <a:t>Fully Homomorphic Encryption</a:t>
            </a:r>
          </a:p>
          <a:p>
            <a:r>
              <a:rPr lang="en-US" dirty="0"/>
              <a:t>Challenges in designing FHE systems</a:t>
            </a:r>
          </a:p>
          <a:p>
            <a:r>
              <a:rPr lang="en-US" dirty="0"/>
              <a:t>Privacy pitfalls in FHE systems</a:t>
            </a:r>
          </a:p>
          <a:p>
            <a:r>
              <a:rPr lang="en-US" dirty="0"/>
              <a:t>Experimental Setup and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2B9CC-2A2D-F043-A59C-95EB98AE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F86738-2063-6346-8D50-8030EFE6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of Outsourced Computation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98421B8-9980-AF4F-83D8-670DEB22E19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112" y="2241550"/>
            <a:ext cx="4205868" cy="277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915418-345E-CE46-AFB2-A3A2DAEAC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48454" y="2241550"/>
            <a:ext cx="5105400" cy="321048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dirty="0"/>
              <a:t>“Ok Google, find some coffee shops near me”​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What Google knows?​</a:t>
            </a:r>
          </a:p>
          <a:p>
            <a:pPr lvl="2" fontAlgn="base">
              <a:buFont typeface="Wingdings" pitchFamily="2" charset="2"/>
              <a:buChar char="ü"/>
            </a:pPr>
            <a:r>
              <a:rPr lang="en-US" dirty="0"/>
              <a:t>You’re looking for a coffee shop​</a:t>
            </a:r>
          </a:p>
          <a:p>
            <a:pPr lvl="2" fontAlgn="base">
              <a:buFont typeface="Wingdings" pitchFamily="2" charset="2"/>
              <a:buChar char="ü"/>
            </a:pPr>
            <a:r>
              <a:rPr lang="en-US" dirty="0"/>
              <a:t>Your location​</a:t>
            </a:r>
          </a:p>
          <a:p>
            <a:pPr lvl="2" fontAlgn="base">
              <a:buFont typeface="Wingdings" pitchFamily="2" charset="2"/>
              <a:buChar char="ü"/>
            </a:pPr>
            <a:r>
              <a:rPr lang="en-US" dirty="0"/>
              <a:t>When you performed this search​</a:t>
            </a:r>
          </a:p>
          <a:p>
            <a:pPr lvl="2" fontAlgn="base">
              <a:buFont typeface="Wingdings" pitchFamily="2" charset="2"/>
              <a:buChar char="ü"/>
            </a:pPr>
            <a:r>
              <a:rPr lang="en-US" dirty="0"/>
              <a:t>The probability of how often you do this query​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74FDB-7133-334C-B3D9-CC705DFB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951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6D4845C-E8EB-2E4D-80F0-5065346EA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Wait…There’s More?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98B8BB-A701-CB4A-BFAC-BD6E4D221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The server knows what answer was given to you. ​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How do you search without sharing this information with third parties?​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Do we even care about the data exposed for our caffeine fix?​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024F8-C281-E34D-AFDE-816C23CA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6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B815D-5285-A241-8E07-09B597EF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Homomorphic Encryption(FHE)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3618E-A65C-2E4A-A5A8-845216DB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Graphic 4" descr="Web design with solid fill">
            <a:extLst>
              <a:ext uri="{FF2B5EF4-FFF2-40B4-BE49-F238E27FC236}">
                <a16:creationId xmlns:a16="http://schemas.microsoft.com/office/drawing/2014/main" id="{4671835A-E0C8-8745-B8EC-7856F7E4C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8148" y="2010552"/>
            <a:ext cx="1038434" cy="1038434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395A183F-E220-E148-BAF9-2E3226425FA5}"/>
              </a:ext>
            </a:extLst>
          </p:cNvPr>
          <p:cNvSpPr/>
          <p:nvPr/>
        </p:nvSpPr>
        <p:spPr>
          <a:xfrm>
            <a:off x="4936358" y="2440829"/>
            <a:ext cx="534557" cy="1607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05B78-2FE7-824A-905C-1F861AD8A2D9}"/>
              </a:ext>
            </a:extLst>
          </p:cNvPr>
          <p:cNvSpPr txBox="1"/>
          <p:nvPr/>
        </p:nvSpPr>
        <p:spPr>
          <a:xfrm>
            <a:off x="2250841" y="2872976"/>
            <a:ext cx="1259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 has data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0C0AB-4537-1A4B-8275-59C9BE9F804D}"/>
              </a:ext>
            </a:extLst>
          </p:cNvPr>
          <p:cNvSpPr txBox="1"/>
          <p:nvPr/>
        </p:nvSpPr>
        <p:spPr>
          <a:xfrm>
            <a:off x="3719548" y="2864320"/>
            <a:ext cx="14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Secret Key</a:t>
            </a:r>
            <a:endParaRPr lang="en-US" i="1" dirty="0"/>
          </a:p>
        </p:txBody>
      </p:sp>
      <p:pic>
        <p:nvPicPr>
          <p:cNvPr id="9" name="Graphic 8" descr="Lock with solid fill">
            <a:extLst>
              <a:ext uri="{FF2B5EF4-FFF2-40B4-BE49-F238E27FC236}">
                <a16:creationId xmlns:a16="http://schemas.microsoft.com/office/drawing/2014/main" id="{FED24B4A-6125-654E-96AF-4621B1A437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2632" y="2177989"/>
            <a:ext cx="703559" cy="703559"/>
          </a:xfrm>
          <a:prstGeom prst="rect">
            <a:avLst/>
          </a:prstGeom>
        </p:spPr>
      </p:pic>
      <p:pic>
        <p:nvPicPr>
          <p:cNvPr id="10" name="Graphic 9" descr="Key with solid fill">
            <a:extLst>
              <a:ext uri="{FF2B5EF4-FFF2-40B4-BE49-F238E27FC236}">
                <a16:creationId xmlns:a16="http://schemas.microsoft.com/office/drawing/2014/main" id="{21F47C0E-4DA5-EE40-8A55-4E88982E23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1407" y="2169417"/>
            <a:ext cx="703559" cy="703559"/>
          </a:xfrm>
          <a:prstGeom prst="rect">
            <a:avLst/>
          </a:prstGeom>
        </p:spPr>
      </p:pic>
      <p:pic>
        <p:nvPicPr>
          <p:cNvPr id="11" name="Graphic 10" descr="Add with solid fill">
            <a:extLst>
              <a:ext uri="{FF2B5EF4-FFF2-40B4-BE49-F238E27FC236}">
                <a16:creationId xmlns:a16="http://schemas.microsoft.com/office/drawing/2014/main" id="{B1BB1337-F62B-1F48-8CED-17856B48FE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6486" y="2328737"/>
            <a:ext cx="391757" cy="3917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696CF9-2A9C-D94B-BE50-3695ABC163AB}"/>
              </a:ext>
            </a:extLst>
          </p:cNvPr>
          <p:cNvSpPr txBox="1"/>
          <p:nvPr/>
        </p:nvSpPr>
        <p:spPr>
          <a:xfrm>
            <a:off x="5186825" y="2864320"/>
            <a:ext cx="1424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Encrypted data = E(x)</a:t>
            </a:r>
            <a:endParaRPr lang="en-US" i="1" dirty="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B0460D3-819E-9046-9364-FE72CB0DCA77}"/>
              </a:ext>
            </a:extLst>
          </p:cNvPr>
          <p:cNvSpPr/>
          <p:nvPr/>
        </p:nvSpPr>
        <p:spPr>
          <a:xfrm rot="1577993">
            <a:off x="6302357" y="2707590"/>
            <a:ext cx="786529" cy="1762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Syncing cloud with solid fill">
            <a:extLst>
              <a:ext uri="{FF2B5EF4-FFF2-40B4-BE49-F238E27FC236}">
                <a16:creationId xmlns:a16="http://schemas.microsoft.com/office/drawing/2014/main" id="{E3FA2230-A17B-FA4B-9FCB-3641809F86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58094" y="2481068"/>
            <a:ext cx="1767063" cy="1767063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FB66BEFF-5593-7348-BAC4-8FE33C8DA779}"/>
              </a:ext>
            </a:extLst>
          </p:cNvPr>
          <p:cNvSpPr/>
          <p:nvPr/>
        </p:nvSpPr>
        <p:spPr>
          <a:xfrm rot="8545932">
            <a:off x="6287789" y="3850358"/>
            <a:ext cx="786529" cy="1762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ADA404-A3DD-074B-B4E3-067981B5B2F2}"/>
              </a:ext>
            </a:extLst>
          </p:cNvPr>
          <p:cNvSpPr txBox="1"/>
          <p:nvPr/>
        </p:nvSpPr>
        <p:spPr>
          <a:xfrm>
            <a:off x="7114874" y="3852996"/>
            <a:ext cx="1767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 computes some function f</a:t>
            </a:r>
            <a:endParaRPr lang="en-US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81FAA-8A07-2140-A2FF-1505E8D696BF}"/>
              </a:ext>
            </a:extLst>
          </p:cNvPr>
          <p:cNvSpPr txBox="1"/>
          <p:nvPr/>
        </p:nvSpPr>
        <p:spPr>
          <a:xfrm>
            <a:off x="5327115" y="3849514"/>
            <a:ext cx="1128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f(E(x)) given by server</a:t>
            </a:r>
            <a:endParaRPr lang="en-US" i="1" dirty="0"/>
          </a:p>
        </p:txBody>
      </p:sp>
      <p:pic>
        <p:nvPicPr>
          <p:cNvPr id="18" name="Graphic 17" descr="Key with solid fill">
            <a:extLst>
              <a:ext uri="{FF2B5EF4-FFF2-40B4-BE49-F238E27FC236}">
                <a16:creationId xmlns:a16="http://schemas.microsoft.com/office/drawing/2014/main" id="{CE864005-BA54-924F-8533-C0855BB0C7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4053" y="3778215"/>
            <a:ext cx="703559" cy="703559"/>
          </a:xfrm>
          <a:prstGeom prst="rect">
            <a:avLst/>
          </a:prstGeom>
        </p:spPr>
      </p:pic>
      <p:pic>
        <p:nvPicPr>
          <p:cNvPr id="19" name="Graphic 18" descr="Add with solid fill">
            <a:extLst>
              <a:ext uri="{FF2B5EF4-FFF2-40B4-BE49-F238E27FC236}">
                <a16:creationId xmlns:a16="http://schemas.microsoft.com/office/drawing/2014/main" id="{DAB5C8C0-BA8F-5645-ACEB-3291CD0F98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5975" y="3922904"/>
            <a:ext cx="391757" cy="3917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1A32E6-6B88-BC4A-8A71-AB537646A15B}"/>
              </a:ext>
            </a:extLst>
          </p:cNvPr>
          <p:cNvSpPr txBox="1"/>
          <p:nvPr/>
        </p:nvSpPr>
        <p:spPr>
          <a:xfrm>
            <a:off x="3741060" y="4357582"/>
            <a:ext cx="14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Secret Key</a:t>
            </a:r>
            <a:endParaRPr lang="en-US" i="1" dirty="0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21ADFCC2-C5AD-5644-89C1-4D7BA72C56A8}"/>
              </a:ext>
            </a:extLst>
          </p:cNvPr>
          <p:cNvSpPr/>
          <p:nvPr/>
        </p:nvSpPr>
        <p:spPr>
          <a:xfrm rot="10800000">
            <a:off x="3422999" y="4049627"/>
            <a:ext cx="534557" cy="1607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021BE9-D63C-A743-9CBB-0A30A81FFEA8}"/>
              </a:ext>
            </a:extLst>
          </p:cNvPr>
          <p:cNvSpPr txBox="1"/>
          <p:nvPr/>
        </p:nvSpPr>
        <p:spPr>
          <a:xfrm>
            <a:off x="2155005" y="3907928"/>
            <a:ext cx="1424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f(x) needed by client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49511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9E2D-2E3B-58E7-90D9-D3BCD8CB6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FHE Schemes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C5B0C54-425D-AF70-5C2B-65700E1365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3464425"/>
              </p:ext>
            </p:extLst>
          </p:nvPr>
        </p:nvGraphicFramePr>
        <p:xfrm>
          <a:off x="914399" y="1857375"/>
          <a:ext cx="9836727" cy="3123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8909">
                  <a:extLst>
                    <a:ext uri="{9D8B030D-6E8A-4147-A177-3AD203B41FA5}">
                      <a16:colId xmlns:a16="http://schemas.microsoft.com/office/drawing/2014/main" val="1053065420"/>
                    </a:ext>
                  </a:extLst>
                </a:gridCol>
                <a:gridCol w="3278909">
                  <a:extLst>
                    <a:ext uri="{9D8B030D-6E8A-4147-A177-3AD203B41FA5}">
                      <a16:colId xmlns:a16="http://schemas.microsoft.com/office/drawing/2014/main" val="3955752096"/>
                    </a:ext>
                  </a:extLst>
                </a:gridCol>
                <a:gridCol w="3278909">
                  <a:extLst>
                    <a:ext uri="{9D8B030D-6E8A-4147-A177-3AD203B41FA5}">
                      <a16:colId xmlns:a16="http://schemas.microsoft.com/office/drawing/2014/main" val="2786587373"/>
                    </a:ext>
                  </a:extLst>
                </a:gridCol>
              </a:tblGrid>
              <a:tr h="647484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 Linotype" panose="02040502050505030304" pitchFamily="18" charset="0"/>
                        </a:rPr>
                        <a:t>Boolean circuits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 Linotype" panose="02040502050505030304" pitchFamily="18" charset="0"/>
                        </a:rPr>
                        <a:t>Exact Arithmetic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 Linotype" panose="02040502050505030304" pitchFamily="18" charset="0"/>
                        </a:rPr>
                        <a:t>Approximate Arithmetic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273516"/>
                  </a:ext>
                </a:extLst>
              </a:tr>
              <a:tr h="647484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 Linotype" panose="02040502050505030304" pitchFamily="18" charset="0"/>
                        </a:rPr>
                        <a:t>Gentry-Sahai-Waters (GSW)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Palatino Linotype" panose="02040502050505030304" pitchFamily="18" charset="0"/>
                        </a:rPr>
                        <a:t>Brakerski-Vaikunthanathan</a:t>
                      </a:r>
                      <a:r>
                        <a:rPr lang="en-US" dirty="0">
                          <a:latin typeface="Palatino Linotype" panose="02040502050505030304" pitchFamily="18" charset="0"/>
                        </a:rPr>
                        <a:t> (BV)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Palatino Linotype" panose="02040502050505030304" pitchFamily="18" charset="0"/>
                        </a:rPr>
                        <a:t>Cheon</a:t>
                      </a:r>
                      <a:r>
                        <a:rPr lang="en-US" dirty="0">
                          <a:latin typeface="Palatino Linotype" panose="02040502050505030304" pitchFamily="18" charset="0"/>
                        </a:rPr>
                        <a:t>-Kim-Kim-Song (CKKS)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110804"/>
                  </a:ext>
                </a:extLst>
              </a:tr>
              <a:tr h="647484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 Linotype" panose="02040502050505030304" pitchFamily="18" charset="0"/>
                        </a:rPr>
                        <a:t>Fastest Homomorphic Encryption in the West (FHEW)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Palatino Linotype" panose="02040502050505030304" pitchFamily="18" charset="0"/>
                        </a:rPr>
                        <a:t>Brakerski</a:t>
                      </a:r>
                      <a:r>
                        <a:rPr lang="en-US" dirty="0">
                          <a:latin typeface="Palatino Linotype" panose="02040502050505030304" pitchFamily="18" charset="0"/>
                        </a:rPr>
                        <a:t>-Gentry-</a:t>
                      </a:r>
                      <a:r>
                        <a:rPr lang="en-US" dirty="0" err="1">
                          <a:latin typeface="Palatino Linotype" panose="02040502050505030304" pitchFamily="18" charset="0"/>
                        </a:rPr>
                        <a:t>Vaikunthanathan</a:t>
                      </a:r>
                      <a:r>
                        <a:rPr lang="en-US" dirty="0">
                          <a:latin typeface="Palatino Linotype" panose="02040502050505030304" pitchFamily="18" charset="0"/>
                        </a:rPr>
                        <a:t> (BGV)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440535"/>
                  </a:ext>
                </a:extLst>
              </a:tr>
              <a:tr h="647484">
                <a:tc>
                  <a:txBody>
                    <a:bodyPr/>
                    <a:lstStyle/>
                    <a:p>
                      <a:r>
                        <a:rPr lang="en-US" dirty="0">
                          <a:latin typeface="Palatino Linotype" panose="02040502050505030304" pitchFamily="18" charset="0"/>
                        </a:rPr>
                        <a:t>Fast Fully Homomorphic Encryption over the Torus (TFHE)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Palatino Linotype" panose="02040502050505030304" pitchFamily="18" charset="0"/>
                        </a:rPr>
                        <a:t>Brakerski</a:t>
                      </a:r>
                      <a:r>
                        <a:rPr lang="en-US" dirty="0">
                          <a:latin typeface="Palatino Linotype" panose="02040502050505030304" pitchFamily="18" charset="0"/>
                        </a:rPr>
                        <a:t>/Fan-</a:t>
                      </a:r>
                      <a:r>
                        <a:rPr lang="en-US" dirty="0" err="1">
                          <a:latin typeface="Palatino Linotype" panose="02040502050505030304" pitchFamily="18" charset="0"/>
                        </a:rPr>
                        <a:t>Vercauteren</a:t>
                      </a:r>
                      <a:r>
                        <a:rPr lang="en-US" dirty="0">
                          <a:latin typeface="Palatino Linotype" panose="02040502050505030304" pitchFamily="18" charset="0"/>
                        </a:rPr>
                        <a:t> (B/FV)</a:t>
                      </a:r>
                    </a:p>
                    <a:p>
                      <a:endParaRPr lang="en-US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5649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5A2E6-7A65-7DC9-5EFC-DB020F76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5C82B-60E1-1BFD-4044-EDFAE23F5400}"/>
              </a:ext>
            </a:extLst>
          </p:cNvPr>
          <p:cNvSpPr txBox="1"/>
          <p:nvPr/>
        </p:nvSpPr>
        <p:spPr>
          <a:xfrm>
            <a:off x="1177636" y="5237018"/>
            <a:ext cx="4502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🟪 Word-wise approach</a:t>
            </a:r>
          </a:p>
          <a:p>
            <a:r>
              <a:rPr lang="en-US" dirty="0">
                <a:latin typeface="Palatino Linotype" panose="02040502050505030304" pitchFamily="18" charset="0"/>
              </a:rPr>
              <a:t>🟧 Bit-wise approach</a:t>
            </a:r>
            <a:r>
              <a:rPr lang="en-US" dirty="0">
                <a:highlight>
                  <a:srgbClr val="EC46A4"/>
                </a:highlight>
                <a:latin typeface="Palatino Linotype" panose="02040502050505030304" pitchFamily="18" charset="0"/>
              </a:rPr>
              <a:t>   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2BB033-F378-8AC4-840F-5A87B951EF10}"/>
              </a:ext>
            </a:extLst>
          </p:cNvPr>
          <p:cNvSpPr/>
          <p:nvPr/>
        </p:nvSpPr>
        <p:spPr>
          <a:xfrm>
            <a:off x="912628" y="3158836"/>
            <a:ext cx="3285299" cy="831273"/>
          </a:xfrm>
          <a:prstGeom prst="roundRect">
            <a:avLst/>
          </a:prstGeom>
          <a:noFill/>
          <a:ln w="57150">
            <a:solidFill>
              <a:srgbClr val="FD8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8F365E-3102-E17C-D9E1-B0101DC76B2E}"/>
              </a:ext>
            </a:extLst>
          </p:cNvPr>
          <p:cNvSpPr/>
          <p:nvPr/>
        </p:nvSpPr>
        <p:spPr>
          <a:xfrm>
            <a:off x="912628" y="4122160"/>
            <a:ext cx="3285299" cy="831273"/>
          </a:xfrm>
          <a:prstGeom prst="roundRect">
            <a:avLst/>
          </a:prstGeom>
          <a:noFill/>
          <a:ln w="57150">
            <a:solidFill>
              <a:srgbClr val="FD8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4896354-2641-C94D-3CFF-F3BE8338FC19}"/>
              </a:ext>
            </a:extLst>
          </p:cNvPr>
          <p:cNvSpPr/>
          <p:nvPr/>
        </p:nvSpPr>
        <p:spPr>
          <a:xfrm>
            <a:off x="4239489" y="2486643"/>
            <a:ext cx="3186546" cy="672193"/>
          </a:xfrm>
          <a:prstGeom prst="roundRect">
            <a:avLst/>
          </a:prstGeom>
          <a:noFill/>
          <a:ln w="57150">
            <a:solidFill>
              <a:srgbClr val="C64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0EECF54-AB8C-4A01-33D1-A3DE2887913C}"/>
              </a:ext>
            </a:extLst>
          </p:cNvPr>
          <p:cNvSpPr/>
          <p:nvPr/>
        </p:nvSpPr>
        <p:spPr>
          <a:xfrm>
            <a:off x="4239489" y="3186546"/>
            <a:ext cx="3186546" cy="831273"/>
          </a:xfrm>
          <a:prstGeom prst="roundRect">
            <a:avLst/>
          </a:prstGeom>
          <a:noFill/>
          <a:ln w="57150">
            <a:solidFill>
              <a:srgbClr val="C64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7AFE0E4-D95F-69DC-285A-7D2F26EDFE45}"/>
              </a:ext>
            </a:extLst>
          </p:cNvPr>
          <p:cNvSpPr/>
          <p:nvPr/>
        </p:nvSpPr>
        <p:spPr>
          <a:xfrm>
            <a:off x="4239489" y="4078943"/>
            <a:ext cx="3186546" cy="831273"/>
          </a:xfrm>
          <a:prstGeom prst="roundRect">
            <a:avLst/>
          </a:prstGeom>
          <a:noFill/>
          <a:ln w="57150">
            <a:solidFill>
              <a:srgbClr val="C64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650C-4A2D-1ED2-F521-4984485137E5}"/>
              </a:ext>
            </a:extLst>
          </p:cNvPr>
          <p:cNvSpPr txBox="1"/>
          <p:nvPr/>
        </p:nvSpPr>
        <p:spPr>
          <a:xfrm>
            <a:off x="4038597" y="5514017"/>
            <a:ext cx="677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For the rest of the talk, we will focus on word-wise approaches</a:t>
            </a:r>
          </a:p>
        </p:txBody>
      </p:sp>
    </p:spTree>
    <p:extLst>
      <p:ext uri="{BB962C8B-B14F-4D97-AF65-F5344CB8AC3E}">
        <p14:creationId xmlns:p14="http://schemas.microsoft.com/office/powerpoint/2010/main" val="416048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AA1AEB6-9215-E01C-A9FD-C1A7BB7F2C7B}"/>
              </a:ext>
            </a:extLst>
          </p:cNvPr>
          <p:cNvSpPr/>
          <p:nvPr/>
        </p:nvSpPr>
        <p:spPr>
          <a:xfrm flipH="1">
            <a:off x="2143417" y="1910893"/>
            <a:ext cx="4312474" cy="3104453"/>
          </a:xfrm>
          <a:prstGeom prst="roundRect">
            <a:avLst/>
          </a:prstGeom>
          <a:solidFill>
            <a:srgbClr val="FFFD78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B815D-5285-A241-8E07-09B597EF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Homomorphic Encryption(FHE)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3618E-A65C-2E4A-A5A8-845216DB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Graphic 4" descr="Web design with solid fill">
            <a:extLst>
              <a:ext uri="{FF2B5EF4-FFF2-40B4-BE49-F238E27FC236}">
                <a16:creationId xmlns:a16="http://schemas.microsoft.com/office/drawing/2014/main" id="{4671835A-E0C8-8745-B8EC-7856F7E4C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8148" y="2010552"/>
            <a:ext cx="1038434" cy="1038434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395A183F-E220-E148-BAF9-2E3226425FA5}"/>
              </a:ext>
            </a:extLst>
          </p:cNvPr>
          <p:cNvSpPr/>
          <p:nvPr/>
        </p:nvSpPr>
        <p:spPr>
          <a:xfrm>
            <a:off x="4936358" y="2440829"/>
            <a:ext cx="534557" cy="1607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05B78-2FE7-824A-905C-1F861AD8A2D9}"/>
              </a:ext>
            </a:extLst>
          </p:cNvPr>
          <p:cNvSpPr txBox="1"/>
          <p:nvPr/>
        </p:nvSpPr>
        <p:spPr>
          <a:xfrm>
            <a:off x="2250841" y="2872976"/>
            <a:ext cx="1259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 has data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0C0AB-4537-1A4B-8275-59C9BE9F804D}"/>
              </a:ext>
            </a:extLst>
          </p:cNvPr>
          <p:cNvSpPr txBox="1"/>
          <p:nvPr/>
        </p:nvSpPr>
        <p:spPr>
          <a:xfrm>
            <a:off x="3719548" y="2864320"/>
            <a:ext cx="14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Secret Key</a:t>
            </a:r>
            <a:endParaRPr lang="en-US" i="1" dirty="0"/>
          </a:p>
        </p:txBody>
      </p:sp>
      <p:pic>
        <p:nvPicPr>
          <p:cNvPr id="9" name="Graphic 8" descr="Lock with solid fill">
            <a:extLst>
              <a:ext uri="{FF2B5EF4-FFF2-40B4-BE49-F238E27FC236}">
                <a16:creationId xmlns:a16="http://schemas.microsoft.com/office/drawing/2014/main" id="{FED24B4A-6125-654E-96AF-4621B1A437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2632" y="2177989"/>
            <a:ext cx="703559" cy="703559"/>
          </a:xfrm>
          <a:prstGeom prst="rect">
            <a:avLst/>
          </a:prstGeom>
        </p:spPr>
      </p:pic>
      <p:pic>
        <p:nvPicPr>
          <p:cNvPr id="10" name="Graphic 9" descr="Key with solid fill">
            <a:extLst>
              <a:ext uri="{FF2B5EF4-FFF2-40B4-BE49-F238E27FC236}">
                <a16:creationId xmlns:a16="http://schemas.microsoft.com/office/drawing/2014/main" id="{21F47C0E-4DA5-EE40-8A55-4E88982E23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1407" y="2169417"/>
            <a:ext cx="703559" cy="703559"/>
          </a:xfrm>
          <a:prstGeom prst="rect">
            <a:avLst/>
          </a:prstGeom>
        </p:spPr>
      </p:pic>
      <p:pic>
        <p:nvPicPr>
          <p:cNvPr id="11" name="Graphic 10" descr="Add with solid fill">
            <a:extLst>
              <a:ext uri="{FF2B5EF4-FFF2-40B4-BE49-F238E27FC236}">
                <a16:creationId xmlns:a16="http://schemas.microsoft.com/office/drawing/2014/main" id="{B1BB1337-F62B-1F48-8CED-17856B48FE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6486" y="2328737"/>
            <a:ext cx="391757" cy="3917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696CF9-2A9C-D94B-BE50-3695ABC163AB}"/>
              </a:ext>
            </a:extLst>
          </p:cNvPr>
          <p:cNvSpPr txBox="1"/>
          <p:nvPr/>
        </p:nvSpPr>
        <p:spPr>
          <a:xfrm>
            <a:off x="5186825" y="2864320"/>
            <a:ext cx="1424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Encrypted data = E(x)</a:t>
            </a:r>
            <a:endParaRPr lang="en-US" i="1" dirty="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B0460D3-819E-9046-9364-FE72CB0DCA77}"/>
              </a:ext>
            </a:extLst>
          </p:cNvPr>
          <p:cNvSpPr/>
          <p:nvPr/>
        </p:nvSpPr>
        <p:spPr>
          <a:xfrm rot="1577993">
            <a:off x="6542664" y="2688335"/>
            <a:ext cx="786529" cy="1762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Syncing cloud with solid fill">
            <a:extLst>
              <a:ext uri="{FF2B5EF4-FFF2-40B4-BE49-F238E27FC236}">
                <a16:creationId xmlns:a16="http://schemas.microsoft.com/office/drawing/2014/main" id="{E3FA2230-A17B-FA4B-9FCB-3641809F86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98401" y="2461813"/>
            <a:ext cx="1767063" cy="1767063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FB66BEFF-5593-7348-BAC4-8FE33C8DA779}"/>
              </a:ext>
            </a:extLst>
          </p:cNvPr>
          <p:cNvSpPr/>
          <p:nvPr/>
        </p:nvSpPr>
        <p:spPr>
          <a:xfrm rot="8545932">
            <a:off x="6528096" y="3831103"/>
            <a:ext cx="786529" cy="1762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ADA404-A3DD-074B-B4E3-067981B5B2F2}"/>
              </a:ext>
            </a:extLst>
          </p:cNvPr>
          <p:cNvSpPr txBox="1"/>
          <p:nvPr/>
        </p:nvSpPr>
        <p:spPr>
          <a:xfrm>
            <a:off x="7355181" y="3833741"/>
            <a:ext cx="1767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 computes some function f</a:t>
            </a:r>
            <a:endParaRPr lang="en-US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81FAA-8A07-2140-A2FF-1505E8D696BF}"/>
              </a:ext>
            </a:extLst>
          </p:cNvPr>
          <p:cNvSpPr txBox="1"/>
          <p:nvPr/>
        </p:nvSpPr>
        <p:spPr>
          <a:xfrm>
            <a:off x="5327115" y="3849514"/>
            <a:ext cx="1128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f(E(x)) given by server</a:t>
            </a:r>
            <a:endParaRPr lang="en-US" i="1" dirty="0"/>
          </a:p>
        </p:txBody>
      </p:sp>
      <p:pic>
        <p:nvPicPr>
          <p:cNvPr id="18" name="Graphic 17" descr="Key with solid fill">
            <a:extLst>
              <a:ext uri="{FF2B5EF4-FFF2-40B4-BE49-F238E27FC236}">
                <a16:creationId xmlns:a16="http://schemas.microsoft.com/office/drawing/2014/main" id="{CE864005-BA54-924F-8533-C0855BB0C7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4053" y="3778215"/>
            <a:ext cx="703559" cy="703559"/>
          </a:xfrm>
          <a:prstGeom prst="rect">
            <a:avLst/>
          </a:prstGeom>
        </p:spPr>
      </p:pic>
      <p:pic>
        <p:nvPicPr>
          <p:cNvPr id="19" name="Graphic 18" descr="Add with solid fill">
            <a:extLst>
              <a:ext uri="{FF2B5EF4-FFF2-40B4-BE49-F238E27FC236}">
                <a16:creationId xmlns:a16="http://schemas.microsoft.com/office/drawing/2014/main" id="{DAB5C8C0-BA8F-5645-ACEB-3291CD0F98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5975" y="3922904"/>
            <a:ext cx="391757" cy="3917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1A32E6-6B88-BC4A-8A71-AB537646A15B}"/>
              </a:ext>
            </a:extLst>
          </p:cNvPr>
          <p:cNvSpPr txBox="1"/>
          <p:nvPr/>
        </p:nvSpPr>
        <p:spPr>
          <a:xfrm>
            <a:off x="3741060" y="4357582"/>
            <a:ext cx="14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Secret Key</a:t>
            </a:r>
            <a:endParaRPr lang="en-US" i="1" dirty="0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21ADFCC2-C5AD-5644-89C1-4D7BA72C56A8}"/>
              </a:ext>
            </a:extLst>
          </p:cNvPr>
          <p:cNvSpPr/>
          <p:nvPr/>
        </p:nvSpPr>
        <p:spPr>
          <a:xfrm rot="10800000">
            <a:off x="3422999" y="4049627"/>
            <a:ext cx="534557" cy="1607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021BE9-D63C-A743-9CBB-0A30A81FFEA8}"/>
              </a:ext>
            </a:extLst>
          </p:cNvPr>
          <p:cNvSpPr txBox="1"/>
          <p:nvPr/>
        </p:nvSpPr>
        <p:spPr>
          <a:xfrm>
            <a:off x="2155005" y="3907928"/>
            <a:ext cx="1424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f(x) needed by client</a:t>
            </a:r>
            <a:endParaRPr lang="en-US" i="1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33BB669-0E8E-3735-02DD-49D1FA19F6E7}"/>
              </a:ext>
            </a:extLst>
          </p:cNvPr>
          <p:cNvSpPr/>
          <p:nvPr/>
        </p:nvSpPr>
        <p:spPr>
          <a:xfrm>
            <a:off x="2155005" y="1910893"/>
            <a:ext cx="4300887" cy="31044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70FE8F-20B4-8178-7901-52A42BD89C46}"/>
              </a:ext>
            </a:extLst>
          </p:cNvPr>
          <p:cNvSpPr txBox="1"/>
          <p:nvPr/>
        </p:nvSpPr>
        <p:spPr>
          <a:xfrm>
            <a:off x="3806460" y="1608339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Client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4303435-8E2B-741E-4691-B493044FC09A}"/>
              </a:ext>
            </a:extLst>
          </p:cNvPr>
          <p:cNvSpPr/>
          <p:nvPr/>
        </p:nvSpPr>
        <p:spPr>
          <a:xfrm flipH="1">
            <a:off x="7339124" y="1912536"/>
            <a:ext cx="1783119" cy="30781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494201-BF14-3D2D-1535-6666CCC70FE5}"/>
              </a:ext>
            </a:extLst>
          </p:cNvPr>
          <p:cNvSpPr txBox="1"/>
          <p:nvPr/>
        </p:nvSpPr>
        <p:spPr>
          <a:xfrm>
            <a:off x="2112983" y="5055917"/>
            <a:ext cx="4190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Responsible for Encryption, Decryption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2E3DFE-6193-3005-8629-80B78CF47EAD}"/>
              </a:ext>
            </a:extLst>
          </p:cNvPr>
          <p:cNvSpPr txBox="1"/>
          <p:nvPr/>
        </p:nvSpPr>
        <p:spPr>
          <a:xfrm>
            <a:off x="6935928" y="5052040"/>
            <a:ext cx="2739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Responsible for Homomorphic Addition, Multiplication and other Ciphertext Maintenance Operations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E0DACC-1ABE-3D96-B750-2475979E5EFE}"/>
              </a:ext>
            </a:extLst>
          </p:cNvPr>
          <p:cNvSpPr txBox="1"/>
          <p:nvPr/>
        </p:nvSpPr>
        <p:spPr>
          <a:xfrm>
            <a:off x="7828970" y="1569114"/>
            <a:ext cx="836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390489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88738-5255-D910-E2AB-F1F53A91D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FHE -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4769F-73C6-F9F4-D9AC-0C5634273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Plaintext vectors are encrypted as ciphertext, pair of polynomials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A74AB-0960-06C0-DF56-6DA5573A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53B9C-DEFD-944A-8CFE-C18F87032388}"/>
              </a:ext>
            </a:extLst>
          </p:cNvPr>
          <p:cNvSpPr txBox="1"/>
          <p:nvPr/>
        </p:nvSpPr>
        <p:spPr>
          <a:xfrm>
            <a:off x="2265203" y="2582658"/>
            <a:ext cx="70658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ED2ED4-AEA6-426F-045E-7F9E4335BA29}"/>
              </a:ext>
            </a:extLst>
          </p:cNvPr>
          <p:cNvSpPr txBox="1"/>
          <p:nvPr/>
        </p:nvSpPr>
        <p:spPr>
          <a:xfrm>
            <a:off x="2971785" y="2582658"/>
            <a:ext cx="70658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2597D5-5EDD-3F0A-0531-86A395F62CB2}"/>
              </a:ext>
            </a:extLst>
          </p:cNvPr>
          <p:cNvSpPr txBox="1"/>
          <p:nvPr/>
        </p:nvSpPr>
        <p:spPr>
          <a:xfrm>
            <a:off x="3678367" y="2582658"/>
            <a:ext cx="70658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FE85DE-DC42-C49C-8672-485EACD1567A}"/>
              </a:ext>
            </a:extLst>
          </p:cNvPr>
          <p:cNvSpPr txBox="1"/>
          <p:nvPr/>
        </p:nvSpPr>
        <p:spPr>
          <a:xfrm>
            <a:off x="4384949" y="2582658"/>
            <a:ext cx="70658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</a:t>
            </a:r>
            <a:r>
              <a:rPr lang="en-US" baseline="-25000" dirty="0" err="1"/>
              <a:t>N</a:t>
            </a:r>
            <a:r>
              <a:rPr lang="en-US" baseline="-25000" dirty="0"/>
              <a:t>/2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30D6F0-A3B1-8BA9-C30D-E4DA61B15EB4}"/>
              </a:ext>
            </a:extLst>
          </p:cNvPr>
          <p:cNvSpPr txBox="1"/>
          <p:nvPr/>
        </p:nvSpPr>
        <p:spPr>
          <a:xfrm>
            <a:off x="2265203" y="3503706"/>
            <a:ext cx="70658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+e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279C39-ACE2-132E-BDFA-0B0750787751}"/>
              </a:ext>
            </a:extLst>
          </p:cNvPr>
          <p:cNvSpPr txBox="1"/>
          <p:nvPr/>
        </p:nvSpPr>
        <p:spPr>
          <a:xfrm>
            <a:off x="2971785" y="3503706"/>
            <a:ext cx="70658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CD16D-65B2-CF0C-43B7-43A74F9CA860}"/>
              </a:ext>
            </a:extLst>
          </p:cNvPr>
          <p:cNvSpPr txBox="1"/>
          <p:nvPr/>
        </p:nvSpPr>
        <p:spPr>
          <a:xfrm>
            <a:off x="3678367" y="3503706"/>
            <a:ext cx="70658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F63D04-D044-AA8B-84C6-D2910ED88F02}"/>
              </a:ext>
            </a:extLst>
          </p:cNvPr>
          <p:cNvSpPr txBox="1"/>
          <p:nvPr/>
        </p:nvSpPr>
        <p:spPr>
          <a:xfrm>
            <a:off x="4384949" y="3503706"/>
            <a:ext cx="70658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e</a:t>
            </a:r>
            <a:r>
              <a:rPr lang="en-US" baseline="-25000" dirty="0" err="1"/>
              <a:t>z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C09AF1-F4C9-95CF-FF69-0DED0BCE473B}"/>
              </a:ext>
            </a:extLst>
          </p:cNvPr>
          <p:cNvSpPr txBox="1"/>
          <p:nvPr/>
        </p:nvSpPr>
        <p:spPr>
          <a:xfrm>
            <a:off x="1073713" y="2444158"/>
            <a:ext cx="1191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Plaintext message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2AAA12-8CFB-B57D-3D6C-72560B858F53}"/>
              </a:ext>
            </a:extLst>
          </p:cNvPr>
          <p:cNvSpPr txBox="1"/>
          <p:nvPr/>
        </p:nvSpPr>
        <p:spPr>
          <a:xfrm>
            <a:off x="1073713" y="3413470"/>
            <a:ext cx="1191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Random Noise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218EF2DF-30D2-88B4-4A05-BE11C7BAF730}"/>
              </a:ext>
            </a:extLst>
          </p:cNvPr>
          <p:cNvSpPr/>
          <p:nvPr/>
        </p:nvSpPr>
        <p:spPr>
          <a:xfrm>
            <a:off x="5313486" y="3600234"/>
            <a:ext cx="484628" cy="27280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1618E26A-8786-BDE6-0C10-FA8BE8A00D25}"/>
              </a:ext>
            </a:extLst>
          </p:cNvPr>
          <p:cNvSpPr/>
          <p:nvPr/>
        </p:nvSpPr>
        <p:spPr>
          <a:xfrm>
            <a:off x="5313486" y="2679185"/>
            <a:ext cx="484628" cy="27280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7E456D-566F-B7B4-5471-CC3CDDC3F0CD}"/>
              </a:ext>
            </a:extLst>
          </p:cNvPr>
          <p:cNvSpPr txBox="1"/>
          <p:nvPr/>
        </p:nvSpPr>
        <p:spPr>
          <a:xfrm>
            <a:off x="5934637" y="2796778"/>
            <a:ext cx="1212273" cy="92333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Encrypt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2" name="Graphic 21" descr="Key with solid fill">
            <a:extLst>
              <a:ext uri="{FF2B5EF4-FFF2-40B4-BE49-F238E27FC236}">
                <a16:creationId xmlns:a16="http://schemas.microsoft.com/office/drawing/2014/main" id="{211B7494-721C-26AF-BE85-420463DF6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8993" y="4215115"/>
            <a:ext cx="703559" cy="703559"/>
          </a:xfrm>
          <a:prstGeom prst="rect">
            <a:avLst/>
          </a:prstGeom>
        </p:spPr>
      </p:pic>
      <p:sp>
        <p:nvSpPr>
          <p:cNvPr id="23" name="Right Arrow 22">
            <a:extLst>
              <a:ext uri="{FF2B5EF4-FFF2-40B4-BE49-F238E27FC236}">
                <a16:creationId xmlns:a16="http://schemas.microsoft.com/office/drawing/2014/main" id="{0ABAA04C-DC5B-C875-8301-0D3175A030DB}"/>
              </a:ext>
            </a:extLst>
          </p:cNvPr>
          <p:cNvSpPr/>
          <p:nvPr/>
        </p:nvSpPr>
        <p:spPr>
          <a:xfrm rot="16200000" flipV="1">
            <a:off x="6356106" y="3919612"/>
            <a:ext cx="369331" cy="22167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AC8DD38D-DF72-A008-1246-ED2203E32499}"/>
              </a:ext>
            </a:extLst>
          </p:cNvPr>
          <p:cNvSpPr/>
          <p:nvPr/>
        </p:nvSpPr>
        <p:spPr>
          <a:xfrm>
            <a:off x="7283433" y="3090489"/>
            <a:ext cx="484628" cy="27280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B2FEBF-ED6B-0094-F1FB-81813EE3A9B7}"/>
              </a:ext>
            </a:extLst>
          </p:cNvPr>
          <p:cNvSpPr txBox="1"/>
          <p:nvPr/>
        </p:nvSpPr>
        <p:spPr>
          <a:xfrm>
            <a:off x="8143150" y="2672486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4693D1-9125-E2BE-107A-5AD2228329EC}"/>
              </a:ext>
            </a:extLst>
          </p:cNvPr>
          <p:cNvSpPr txBox="1"/>
          <p:nvPr/>
        </p:nvSpPr>
        <p:spPr>
          <a:xfrm>
            <a:off x="8849732" y="2672486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7E2727-AB97-5FAE-643E-5F5B2F8C2DA1}"/>
              </a:ext>
            </a:extLst>
          </p:cNvPr>
          <p:cNvSpPr txBox="1"/>
          <p:nvPr/>
        </p:nvSpPr>
        <p:spPr>
          <a:xfrm>
            <a:off x="9556314" y="2672486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245326-BAA7-6BA9-A5AB-5F97043AE998}"/>
              </a:ext>
            </a:extLst>
          </p:cNvPr>
          <p:cNvSpPr txBox="1"/>
          <p:nvPr/>
        </p:nvSpPr>
        <p:spPr>
          <a:xfrm>
            <a:off x="10253299" y="2672486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</a:t>
            </a:r>
            <a:r>
              <a:rPr lang="en-US" baseline="-25000" dirty="0" err="1"/>
              <a:t>N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AC0A28-8AAE-AA4F-4A86-55049DB9657B}"/>
              </a:ext>
            </a:extLst>
          </p:cNvPr>
          <p:cNvSpPr txBox="1"/>
          <p:nvPr/>
        </p:nvSpPr>
        <p:spPr>
          <a:xfrm>
            <a:off x="8167825" y="3342877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FC936E-15DE-F630-288F-A53D09BF947B}"/>
              </a:ext>
            </a:extLst>
          </p:cNvPr>
          <p:cNvSpPr txBox="1"/>
          <p:nvPr/>
        </p:nvSpPr>
        <p:spPr>
          <a:xfrm>
            <a:off x="8874407" y="3342877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4BFC73-0F72-4B9B-1B4E-EBA30F2C8602}"/>
              </a:ext>
            </a:extLst>
          </p:cNvPr>
          <p:cNvSpPr txBox="1"/>
          <p:nvPr/>
        </p:nvSpPr>
        <p:spPr>
          <a:xfrm>
            <a:off x="9580989" y="3342877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49AAB2-4C3B-F132-8EED-392B5198C26F}"/>
              </a:ext>
            </a:extLst>
          </p:cNvPr>
          <p:cNvSpPr txBox="1"/>
          <p:nvPr/>
        </p:nvSpPr>
        <p:spPr>
          <a:xfrm>
            <a:off x="10277974" y="3342877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b</a:t>
            </a:r>
            <a:r>
              <a:rPr lang="en-US" baseline="-25000" dirty="0" err="1"/>
              <a:t>N</a:t>
            </a:r>
            <a:endParaRPr lang="en-US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A05B7938-33C6-EB45-A5B5-202FB24DAED5}"/>
              </a:ext>
            </a:extLst>
          </p:cNvPr>
          <p:cNvSpPr/>
          <p:nvPr/>
        </p:nvSpPr>
        <p:spPr>
          <a:xfrm>
            <a:off x="7797291" y="2582658"/>
            <a:ext cx="350689" cy="1281066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BF3E6B-E7CE-3978-366A-6DE79104CC06}"/>
              </a:ext>
            </a:extLst>
          </p:cNvPr>
          <p:cNvSpPr txBox="1"/>
          <p:nvPr/>
        </p:nvSpPr>
        <p:spPr>
          <a:xfrm>
            <a:off x="5798114" y="4700366"/>
            <a:ext cx="1676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Secret Key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DE1709-2B1C-EAD5-3280-62BB82EA8D5A}"/>
              </a:ext>
            </a:extLst>
          </p:cNvPr>
          <p:cNvSpPr txBox="1"/>
          <p:nvPr/>
        </p:nvSpPr>
        <p:spPr>
          <a:xfrm>
            <a:off x="7304951" y="3888678"/>
            <a:ext cx="1676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Ciphertext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5C76F31-BB1F-1899-4D77-0B3FFB568117}"/>
              </a:ext>
            </a:extLst>
          </p:cNvPr>
          <p:cNvSpPr/>
          <p:nvPr/>
        </p:nvSpPr>
        <p:spPr>
          <a:xfrm>
            <a:off x="10262896" y="2546016"/>
            <a:ext cx="721660" cy="646331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3CFB02-A7FB-6DE0-B0B7-5879031E3E51}"/>
              </a:ext>
            </a:extLst>
          </p:cNvPr>
          <p:cNvSpPr txBox="1"/>
          <p:nvPr/>
        </p:nvSpPr>
        <p:spPr>
          <a:xfrm>
            <a:off x="1457543" y="5301582"/>
            <a:ext cx="9273369" cy="510778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Problem : Each ciphertext coefficient can be </a:t>
            </a:r>
            <a:r>
              <a:rPr lang="en-US" sz="2400" b="1" dirty="0" err="1">
                <a:latin typeface="Palatino Linotype" panose="02040502050505030304" pitchFamily="18" charset="0"/>
              </a:rPr>
              <a:t>upto</a:t>
            </a:r>
            <a:r>
              <a:rPr lang="en-US" sz="2400" b="1" dirty="0">
                <a:latin typeface="Palatino Linotype" panose="02040502050505030304" pitchFamily="18" charset="0"/>
              </a:rPr>
              <a:t> ~2000 bits wide</a:t>
            </a:r>
          </a:p>
        </p:txBody>
      </p:sp>
    </p:spTree>
    <p:extLst>
      <p:ext uri="{BB962C8B-B14F-4D97-AF65-F5344CB8AC3E}">
        <p14:creationId xmlns:p14="http://schemas.microsoft.com/office/powerpoint/2010/main" val="374093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4FCA-EF4E-C5DE-B045-E1EF240CA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FHE -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E5C9-5AC5-E6A4-63E1-634BE4B9E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Computation with wide coefficients (~2000 bits) costs a lot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RNS can represent a wide polynomial (modulo Q) as </a:t>
            </a:r>
            <a:r>
              <a:rPr lang="en-US" i="1" dirty="0"/>
              <a:t>L</a:t>
            </a:r>
            <a:r>
              <a:rPr lang="en-US" dirty="0"/>
              <a:t> polynomials each module a smaller q</a:t>
            </a:r>
            <a:r>
              <a:rPr lang="en-US" baseline="-25000" dirty="0"/>
              <a:t>i,</a:t>
            </a:r>
            <a:r>
              <a:rPr lang="en-US" dirty="0"/>
              <a:t> such that q</a:t>
            </a:r>
            <a:r>
              <a:rPr lang="en-US" baseline="-25000" dirty="0"/>
              <a:t>1</a:t>
            </a:r>
            <a:r>
              <a:rPr lang="en-US" dirty="0"/>
              <a:t> q</a:t>
            </a:r>
            <a:r>
              <a:rPr lang="en-US" baseline="-25000" dirty="0"/>
              <a:t>2</a:t>
            </a:r>
            <a:r>
              <a:rPr lang="en-US" dirty="0"/>
              <a:t>... </a:t>
            </a:r>
            <a:r>
              <a:rPr lang="en-US" dirty="0" err="1"/>
              <a:t>q</a:t>
            </a:r>
            <a:r>
              <a:rPr lang="en-US" baseline="-25000" dirty="0" err="1"/>
              <a:t>L</a:t>
            </a:r>
            <a:r>
              <a:rPr lang="en-US" dirty="0"/>
              <a:t> = Q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6C9D9-4E4F-5C91-F277-F21E5C2B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B403C-0866-7A82-C0BB-11778CCFB94A}"/>
              </a:ext>
            </a:extLst>
          </p:cNvPr>
          <p:cNvSpPr txBox="1"/>
          <p:nvPr/>
        </p:nvSpPr>
        <p:spPr>
          <a:xfrm>
            <a:off x="3359363" y="2572232"/>
            <a:ext cx="5469730" cy="510778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Solution : Residue Number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7032E-5DE2-0125-5EBD-3442434C2F08}"/>
              </a:ext>
            </a:extLst>
          </p:cNvPr>
          <p:cNvSpPr txBox="1"/>
          <p:nvPr/>
        </p:nvSpPr>
        <p:spPr>
          <a:xfrm>
            <a:off x="1353549" y="492495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FF3186-A61F-8E68-60DC-3BA92545DCD0}"/>
              </a:ext>
            </a:extLst>
          </p:cNvPr>
          <p:cNvSpPr txBox="1"/>
          <p:nvPr/>
        </p:nvSpPr>
        <p:spPr>
          <a:xfrm>
            <a:off x="2060131" y="492495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EF963-BCBD-DE7F-5C25-52CB7FE72ED8}"/>
              </a:ext>
            </a:extLst>
          </p:cNvPr>
          <p:cNvSpPr txBox="1"/>
          <p:nvPr/>
        </p:nvSpPr>
        <p:spPr>
          <a:xfrm>
            <a:off x="2766713" y="492495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DD800-164E-748F-0CF0-2CE875891BC2}"/>
              </a:ext>
            </a:extLst>
          </p:cNvPr>
          <p:cNvSpPr txBox="1"/>
          <p:nvPr/>
        </p:nvSpPr>
        <p:spPr>
          <a:xfrm>
            <a:off x="3463698" y="492495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</a:t>
            </a:r>
            <a:r>
              <a:rPr lang="en-US" baseline="-25000" dirty="0" err="1"/>
              <a:t>N</a:t>
            </a:r>
            <a:endParaRPr lang="en-US" dirty="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FC47A03C-9A3A-72E5-9210-F651D52F9744}"/>
              </a:ext>
            </a:extLst>
          </p:cNvPr>
          <p:cNvSpPr/>
          <p:nvPr/>
        </p:nvSpPr>
        <p:spPr>
          <a:xfrm>
            <a:off x="4529674" y="4975046"/>
            <a:ext cx="484628" cy="27280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44FDE6-0B09-1886-DF6F-F7BF18183667}"/>
              </a:ext>
            </a:extLst>
          </p:cNvPr>
          <p:cNvSpPr txBox="1"/>
          <p:nvPr/>
        </p:nvSpPr>
        <p:spPr>
          <a:xfrm>
            <a:off x="5254009" y="4386114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 % q</a:t>
            </a:r>
            <a:r>
              <a:rPr lang="en-US" baseline="-25000" dirty="0"/>
              <a:t>0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B8ABA8-3826-6D6A-8FD8-F2D220391F2D}"/>
              </a:ext>
            </a:extLst>
          </p:cNvPr>
          <p:cNvSpPr txBox="1"/>
          <p:nvPr/>
        </p:nvSpPr>
        <p:spPr>
          <a:xfrm>
            <a:off x="5254009" y="4745194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 % q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B3A22B-C288-217B-662B-1871BAB6F4A2}"/>
              </a:ext>
            </a:extLst>
          </p:cNvPr>
          <p:cNvSpPr txBox="1"/>
          <p:nvPr/>
        </p:nvSpPr>
        <p:spPr>
          <a:xfrm>
            <a:off x="5254009" y="5109619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98D04B-D4B5-273E-8939-15CAF1AAF764}"/>
              </a:ext>
            </a:extLst>
          </p:cNvPr>
          <p:cNvSpPr txBox="1"/>
          <p:nvPr/>
        </p:nvSpPr>
        <p:spPr>
          <a:xfrm>
            <a:off x="5254009" y="5459380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 % </a:t>
            </a:r>
            <a:r>
              <a:rPr lang="en-US" dirty="0" err="1"/>
              <a:t>q</a:t>
            </a:r>
            <a:r>
              <a:rPr lang="en-US" baseline="-25000" dirty="0" err="1"/>
              <a:t>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D1A9A1-C95A-A262-FF04-BAB82CD434C8}"/>
              </a:ext>
            </a:extLst>
          </p:cNvPr>
          <p:cNvSpPr txBox="1"/>
          <p:nvPr/>
        </p:nvSpPr>
        <p:spPr>
          <a:xfrm>
            <a:off x="6340612" y="4386114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95E4FA-73DA-FDBA-E6E9-13733AD22A7C}"/>
              </a:ext>
            </a:extLst>
          </p:cNvPr>
          <p:cNvSpPr txBox="1"/>
          <p:nvPr/>
        </p:nvSpPr>
        <p:spPr>
          <a:xfrm>
            <a:off x="6340612" y="4745194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A4B47-F432-90EF-0CD0-5257FF14777A}"/>
              </a:ext>
            </a:extLst>
          </p:cNvPr>
          <p:cNvSpPr txBox="1"/>
          <p:nvPr/>
        </p:nvSpPr>
        <p:spPr>
          <a:xfrm>
            <a:off x="6340612" y="5109619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35F4FB-597E-ECAD-1823-0253B0046D4D}"/>
              </a:ext>
            </a:extLst>
          </p:cNvPr>
          <p:cNvSpPr txBox="1"/>
          <p:nvPr/>
        </p:nvSpPr>
        <p:spPr>
          <a:xfrm>
            <a:off x="6340612" y="5459380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A6CEF2-0AE4-A7FC-7096-81708C2640EA}"/>
              </a:ext>
            </a:extLst>
          </p:cNvPr>
          <p:cNvSpPr txBox="1"/>
          <p:nvPr/>
        </p:nvSpPr>
        <p:spPr>
          <a:xfrm>
            <a:off x="7427214" y="5459380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</a:t>
            </a:r>
            <a:r>
              <a:rPr lang="en-US" baseline="-25000" dirty="0" err="1"/>
              <a:t>N</a:t>
            </a:r>
            <a:r>
              <a:rPr lang="en-US" dirty="0"/>
              <a:t> % </a:t>
            </a:r>
            <a:r>
              <a:rPr lang="en-US" dirty="0" err="1"/>
              <a:t>q</a:t>
            </a:r>
            <a:r>
              <a:rPr lang="en-US" baseline="-25000" dirty="0" err="1"/>
              <a:t>L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77799F-C26D-CF66-E3D8-E576EA72FFAA}"/>
              </a:ext>
            </a:extLst>
          </p:cNvPr>
          <p:cNvSpPr txBox="1"/>
          <p:nvPr/>
        </p:nvSpPr>
        <p:spPr>
          <a:xfrm>
            <a:off x="7427214" y="5109619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340206-2B6B-93E4-96AE-D88D7E250B29}"/>
              </a:ext>
            </a:extLst>
          </p:cNvPr>
          <p:cNvSpPr txBox="1"/>
          <p:nvPr/>
        </p:nvSpPr>
        <p:spPr>
          <a:xfrm>
            <a:off x="7427214" y="4745194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C648D6-0296-8498-2CA9-964D1BF90AAD}"/>
              </a:ext>
            </a:extLst>
          </p:cNvPr>
          <p:cNvSpPr txBox="1"/>
          <p:nvPr/>
        </p:nvSpPr>
        <p:spPr>
          <a:xfrm>
            <a:off x="7427214" y="4386114"/>
            <a:ext cx="108399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</a:t>
            </a:r>
            <a:r>
              <a:rPr lang="en-US" baseline="-25000" dirty="0" err="1"/>
              <a:t>N</a:t>
            </a:r>
            <a:r>
              <a:rPr lang="en-US" dirty="0"/>
              <a:t> % q</a:t>
            </a:r>
            <a:r>
              <a:rPr lang="en-US" baseline="-25000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38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0A098E0-88FE-3F9E-813B-230C85269E8E}"/>
              </a:ext>
            </a:extLst>
          </p:cNvPr>
          <p:cNvSpPr/>
          <p:nvPr/>
        </p:nvSpPr>
        <p:spPr>
          <a:xfrm flipH="1">
            <a:off x="7339123" y="1926688"/>
            <a:ext cx="1783119" cy="3078103"/>
          </a:xfrm>
          <a:prstGeom prst="roundRect">
            <a:avLst/>
          </a:prstGeom>
          <a:solidFill>
            <a:srgbClr val="FFFD78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B815D-5285-A241-8E07-09B597EF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Homomorphic Encryption(FHE)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3618E-A65C-2E4A-A5A8-845216DB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Graphic 4" descr="Web design with solid fill">
            <a:extLst>
              <a:ext uri="{FF2B5EF4-FFF2-40B4-BE49-F238E27FC236}">
                <a16:creationId xmlns:a16="http://schemas.microsoft.com/office/drawing/2014/main" id="{4671835A-E0C8-8745-B8EC-7856F7E4C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8148" y="2010552"/>
            <a:ext cx="1038434" cy="1038434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395A183F-E220-E148-BAF9-2E3226425FA5}"/>
              </a:ext>
            </a:extLst>
          </p:cNvPr>
          <p:cNvSpPr/>
          <p:nvPr/>
        </p:nvSpPr>
        <p:spPr>
          <a:xfrm>
            <a:off x="4936358" y="2440829"/>
            <a:ext cx="534557" cy="1607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05B78-2FE7-824A-905C-1F861AD8A2D9}"/>
              </a:ext>
            </a:extLst>
          </p:cNvPr>
          <p:cNvSpPr txBox="1"/>
          <p:nvPr/>
        </p:nvSpPr>
        <p:spPr>
          <a:xfrm>
            <a:off x="2250841" y="2872976"/>
            <a:ext cx="1259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 has data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0C0AB-4537-1A4B-8275-59C9BE9F804D}"/>
              </a:ext>
            </a:extLst>
          </p:cNvPr>
          <p:cNvSpPr txBox="1"/>
          <p:nvPr/>
        </p:nvSpPr>
        <p:spPr>
          <a:xfrm>
            <a:off x="3719548" y="2864320"/>
            <a:ext cx="14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Secret Key</a:t>
            </a:r>
            <a:endParaRPr lang="en-US" i="1" dirty="0"/>
          </a:p>
        </p:txBody>
      </p:sp>
      <p:pic>
        <p:nvPicPr>
          <p:cNvPr id="9" name="Graphic 8" descr="Lock with solid fill">
            <a:extLst>
              <a:ext uri="{FF2B5EF4-FFF2-40B4-BE49-F238E27FC236}">
                <a16:creationId xmlns:a16="http://schemas.microsoft.com/office/drawing/2014/main" id="{FED24B4A-6125-654E-96AF-4621B1A437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2632" y="2177989"/>
            <a:ext cx="703559" cy="703559"/>
          </a:xfrm>
          <a:prstGeom prst="rect">
            <a:avLst/>
          </a:prstGeom>
        </p:spPr>
      </p:pic>
      <p:pic>
        <p:nvPicPr>
          <p:cNvPr id="10" name="Graphic 9" descr="Key with solid fill">
            <a:extLst>
              <a:ext uri="{FF2B5EF4-FFF2-40B4-BE49-F238E27FC236}">
                <a16:creationId xmlns:a16="http://schemas.microsoft.com/office/drawing/2014/main" id="{21F47C0E-4DA5-EE40-8A55-4E88982E23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1407" y="2169417"/>
            <a:ext cx="703559" cy="703559"/>
          </a:xfrm>
          <a:prstGeom prst="rect">
            <a:avLst/>
          </a:prstGeom>
        </p:spPr>
      </p:pic>
      <p:pic>
        <p:nvPicPr>
          <p:cNvPr id="11" name="Graphic 10" descr="Add with solid fill">
            <a:extLst>
              <a:ext uri="{FF2B5EF4-FFF2-40B4-BE49-F238E27FC236}">
                <a16:creationId xmlns:a16="http://schemas.microsoft.com/office/drawing/2014/main" id="{B1BB1337-F62B-1F48-8CED-17856B48FE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6486" y="2328737"/>
            <a:ext cx="391757" cy="3917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696CF9-2A9C-D94B-BE50-3695ABC163AB}"/>
              </a:ext>
            </a:extLst>
          </p:cNvPr>
          <p:cNvSpPr txBox="1"/>
          <p:nvPr/>
        </p:nvSpPr>
        <p:spPr>
          <a:xfrm>
            <a:off x="5186825" y="2864320"/>
            <a:ext cx="1424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Encrypted data = E(x)</a:t>
            </a:r>
            <a:endParaRPr lang="en-US" i="1" dirty="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B0460D3-819E-9046-9364-FE72CB0DCA77}"/>
              </a:ext>
            </a:extLst>
          </p:cNvPr>
          <p:cNvSpPr/>
          <p:nvPr/>
        </p:nvSpPr>
        <p:spPr>
          <a:xfrm rot="1577993">
            <a:off x="6542664" y="2688335"/>
            <a:ext cx="786529" cy="1762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Syncing cloud with solid fill">
            <a:extLst>
              <a:ext uri="{FF2B5EF4-FFF2-40B4-BE49-F238E27FC236}">
                <a16:creationId xmlns:a16="http://schemas.microsoft.com/office/drawing/2014/main" id="{E3FA2230-A17B-FA4B-9FCB-3641809F86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98401" y="2461813"/>
            <a:ext cx="1767063" cy="1767063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FB66BEFF-5593-7348-BAC4-8FE33C8DA779}"/>
              </a:ext>
            </a:extLst>
          </p:cNvPr>
          <p:cNvSpPr/>
          <p:nvPr/>
        </p:nvSpPr>
        <p:spPr>
          <a:xfrm rot="8545932">
            <a:off x="6528096" y="3831103"/>
            <a:ext cx="786529" cy="1762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ADA404-A3DD-074B-B4E3-067981B5B2F2}"/>
              </a:ext>
            </a:extLst>
          </p:cNvPr>
          <p:cNvSpPr txBox="1"/>
          <p:nvPr/>
        </p:nvSpPr>
        <p:spPr>
          <a:xfrm>
            <a:off x="7355181" y="3833741"/>
            <a:ext cx="1767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 computes some function f</a:t>
            </a:r>
            <a:endParaRPr lang="en-US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81FAA-8A07-2140-A2FF-1505E8D696BF}"/>
              </a:ext>
            </a:extLst>
          </p:cNvPr>
          <p:cNvSpPr txBox="1"/>
          <p:nvPr/>
        </p:nvSpPr>
        <p:spPr>
          <a:xfrm>
            <a:off x="5327115" y="3849514"/>
            <a:ext cx="1128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f(E(x)) given by server</a:t>
            </a:r>
            <a:endParaRPr lang="en-US" i="1" dirty="0"/>
          </a:p>
        </p:txBody>
      </p:sp>
      <p:pic>
        <p:nvPicPr>
          <p:cNvPr id="18" name="Graphic 17" descr="Key with solid fill">
            <a:extLst>
              <a:ext uri="{FF2B5EF4-FFF2-40B4-BE49-F238E27FC236}">
                <a16:creationId xmlns:a16="http://schemas.microsoft.com/office/drawing/2014/main" id="{CE864005-BA54-924F-8533-C0855BB0C7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4053" y="3778215"/>
            <a:ext cx="703559" cy="703559"/>
          </a:xfrm>
          <a:prstGeom prst="rect">
            <a:avLst/>
          </a:prstGeom>
        </p:spPr>
      </p:pic>
      <p:pic>
        <p:nvPicPr>
          <p:cNvPr id="19" name="Graphic 18" descr="Add with solid fill">
            <a:extLst>
              <a:ext uri="{FF2B5EF4-FFF2-40B4-BE49-F238E27FC236}">
                <a16:creationId xmlns:a16="http://schemas.microsoft.com/office/drawing/2014/main" id="{DAB5C8C0-BA8F-5645-ACEB-3291CD0F98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5975" y="3922904"/>
            <a:ext cx="391757" cy="3917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1A32E6-6B88-BC4A-8A71-AB537646A15B}"/>
              </a:ext>
            </a:extLst>
          </p:cNvPr>
          <p:cNvSpPr txBox="1"/>
          <p:nvPr/>
        </p:nvSpPr>
        <p:spPr>
          <a:xfrm>
            <a:off x="3741060" y="4357582"/>
            <a:ext cx="14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Secret Key</a:t>
            </a:r>
            <a:endParaRPr lang="en-US" i="1" dirty="0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21ADFCC2-C5AD-5644-89C1-4D7BA72C56A8}"/>
              </a:ext>
            </a:extLst>
          </p:cNvPr>
          <p:cNvSpPr/>
          <p:nvPr/>
        </p:nvSpPr>
        <p:spPr>
          <a:xfrm rot="10800000">
            <a:off x="3422999" y="4049627"/>
            <a:ext cx="534557" cy="1607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021BE9-D63C-A743-9CBB-0A30A81FFEA8}"/>
              </a:ext>
            </a:extLst>
          </p:cNvPr>
          <p:cNvSpPr txBox="1"/>
          <p:nvPr/>
        </p:nvSpPr>
        <p:spPr>
          <a:xfrm>
            <a:off x="2155005" y="3907928"/>
            <a:ext cx="1424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f(x) needed by client</a:t>
            </a:r>
            <a:endParaRPr lang="en-US" i="1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33BB669-0E8E-3735-02DD-49D1FA19F6E7}"/>
              </a:ext>
            </a:extLst>
          </p:cNvPr>
          <p:cNvSpPr/>
          <p:nvPr/>
        </p:nvSpPr>
        <p:spPr>
          <a:xfrm>
            <a:off x="2155005" y="1910893"/>
            <a:ext cx="4300887" cy="31044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70FE8F-20B4-8178-7901-52A42BD89C46}"/>
              </a:ext>
            </a:extLst>
          </p:cNvPr>
          <p:cNvSpPr txBox="1"/>
          <p:nvPr/>
        </p:nvSpPr>
        <p:spPr>
          <a:xfrm>
            <a:off x="3806460" y="1608339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Client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4303435-8E2B-741E-4691-B493044FC09A}"/>
              </a:ext>
            </a:extLst>
          </p:cNvPr>
          <p:cNvSpPr/>
          <p:nvPr/>
        </p:nvSpPr>
        <p:spPr>
          <a:xfrm flipH="1">
            <a:off x="7339124" y="1912536"/>
            <a:ext cx="1783119" cy="30781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494201-BF14-3D2D-1535-6666CCC70FE5}"/>
              </a:ext>
            </a:extLst>
          </p:cNvPr>
          <p:cNvSpPr txBox="1"/>
          <p:nvPr/>
        </p:nvSpPr>
        <p:spPr>
          <a:xfrm>
            <a:off x="2112983" y="5055917"/>
            <a:ext cx="4190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Responsible for Encryption, Decryption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2E3DFE-6193-3005-8629-80B78CF47EAD}"/>
              </a:ext>
            </a:extLst>
          </p:cNvPr>
          <p:cNvSpPr txBox="1"/>
          <p:nvPr/>
        </p:nvSpPr>
        <p:spPr>
          <a:xfrm>
            <a:off x="6935928" y="5052040"/>
            <a:ext cx="2739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Responsible for Homomorphic Addition, Multiplication and other Ciphertext Maintenance Operations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E0DACC-1ABE-3D96-B750-2475979E5EFE}"/>
              </a:ext>
            </a:extLst>
          </p:cNvPr>
          <p:cNvSpPr txBox="1"/>
          <p:nvPr/>
        </p:nvSpPr>
        <p:spPr>
          <a:xfrm>
            <a:off x="7828970" y="1569114"/>
            <a:ext cx="836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45613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4A80-A8AD-C124-C4D1-1E0AE540A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FHE Operations - </a:t>
            </a:r>
            <a:r>
              <a:rPr lang="en-US" dirty="0" err="1"/>
              <a:t>Mult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1DA01-E984-7952-DCBD-CE9517918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420" y="1482943"/>
            <a:ext cx="10363200" cy="3088460"/>
          </a:xfrm>
        </p:spPr>
        <p:txBody>
          <a:bodyPr/>
          <a:lstStyle/>
          <a:p>
            <a:r>
              <a:rPr lang="en-US" dirty="0"/>
              <a:t>Homomorphic addition, multiplication and rotation between large ciphertexts is complex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BE49B-1175-241B-C653-6044A414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A5998-4693-A205-1A94-CA1DDDDC06AF}"/>
              </a:ext>
            </a:extLst>
          </p:cNvPr>
          <p:cNvSpPr txBox="1"/>
          <p:nvPr/>
        </p:nvSpPr>
        <p:spPr>
          <a:xfrm>
            <a:off x="1173440" y="245915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x.a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9D05A-B622-B89E-8503-C1BEE6AF5E0F}"/>
              </a:ext>
            </a:extLst>
          </p:cNvPr>
          <p:cNvSpPr txBox="1"/>
          <p:nvPr/>
        </p:nvSpPr>
        <p:spPr>
          <a:xfrm>
            <a:off x="1880022" y="245915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x.a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4F0EA7-DBEE-36DD-9274-58E77D940BFF}"/>
              </a:ext>
            </a:extLst>
          </p:cNvPr>
          <p:cNvSpPr txBox="1"/>
          <p:nvPr/>
        </p:nvSpPr>
        <p:spPr>
          <a:xfrm>
            <a:off x="2586604" y="245915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x.a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F56C1C-127B-3E21-F0AC-799BFE76E8C8}"/>
              </a:ext>
            </a:extLst>
          </p:cNvPr>
          <p:cNvSpPr txBox="1"/>
          <p:nvPr/>
        </p:nvSpPr>
        <p:spPr>
          <a:xfrm>
            <a:off x="3283589" y="245915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x.a</a:t>
            </a:r>
            <a:r>
              <a:rPr lang="en-US" baseline="-25000" dirty="0"/>
              <a:t>4</a:t>
            </a:r>
            <a:endParaRPr lang="en-US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64A203A-9DAA-7209-658C-3C7DB96D0618}"/>
              </a:ext>
            </a:extLst>
          </p:cNvPr>
          <p:cNvSpPr/>
          <p:nvPr/>
        </p:nvSpPr>
        <p:spPr>
          <a:xfrm>
            <a:off x="921327" y="2395420"/>
            <a:ext cx="261710" cy="86613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D791A-BC12-3E2F-3321-F2D53CC26C84}"/>
              </a:ext>
            </a:extLst>
          </p:cNvPr>
          <p:cNvSpPr txBox="1"/>
          <p:nvPr/>
        </p:nvSpPr>
        <p:spPr>
          <a:xfrm>
            <a:off x="1173440" y="2860351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x.b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AB5D79-7015-08BA-A801-33C0DAF06D1F}"/>
              </a:ext>
            </a:extLst>
          </p:cNvPr>
          <p:cNvSpPr txBox="1"/>
          <p:nvPr/>
        </p:nvSpPr>
        <p:spPr>
          <a:xfrm>
            <a:off x="1880022" y="2860351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x.b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B51CB5-CAC6-22E3-C322-FDDB86BE4755}"/>
              </a:ext>
            </a:extLst>
          </p:cNvPr>
          <p:cNvSpPr txBox="1"/>
          <p:nvPr/>
        </p:nvSpPr>
        <p:spPr>
          <a:xfrm>
            <a:off x="2586604" y="2860351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x.b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76F8C-1FF4-30CB-6BD8-0374EDB4F250}"/>
              </a:ext>
            </a:extLst>
          </p:cNvPr>
          <p:cNvSpPr txBox="1"/>
          <p:nvPr/>
        </p:nvSpPr>
        <p:spPr>
          <a:xfrm>
            <a:off x="3283589" y="2860351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x.b</a:t>
            </a:r>
            <a:r>
              <a:rPr lang="en-US" baseline="-25000" dirty="0"/>
              <a:t>4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C2E9C1-B9FE-0D1B-6256-E251931AF347}"/>
              </a:ext>
            </a:extLst>
          </p:cNvPr>
          <p:cNvSpPr txBox="1"/>
          <p:nvPr/>
        </p:nvSpPr>
        <p:spPr>
          <a:xfrm>
            <a:off x="631113" y="2635970"/>
            <a:ext cx="25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47F0E8-A1A4-A79A-D2F0-642DE0FE9E51}"/>
              </a:ext>
            </a:extLst>
          </p:cNvPr>
          <p:cNvSpPr txBox="1"/>
          <p:nvPr/>
        </p:nvSpPr>
        <p:spPr>
          <a:xfrm>
            <a:off x="1173440" y="3536625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y.a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C261F3-F602-337F-A7BC-7EBADD2502F4}"/>
              </a:ext>
            </a:extLst>
          </p:cNvPr>
          <p:cNvSpPr txBox="1"/>
          <p:nvPr/>
        </p:nvSpPr>
        <p:spPr>
          <a:xfrm>
            <a:off x="1880022" y="3536625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y.a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9E062E-5902-55DE-18CC-42658567DDEE}"/>
              </a:ext>
            </a:extLst>
          </p:cNvPr>
          <p:cNvSpPr txBox="1"/>
          <p:nvPr/>
        </p:nvSpPr>
        <p:spPr>
          <a:xfrm>
            <a:off x="2586604" y="3536625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y.a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D34A1B-D794-B86D-9785-029E699FB671}"/>
              </a:ext>
            </a:extLst>
          </p:cNvPr>
          <p:cNvSpPr txBox="1"/>
          <p:nvPr/>
        </p:nvSpPr>
        <p:spPr>
          <a:xfrm>
            <a:off x="3283589" y="3536625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y.a</a:t>
            </a:r>
            <a:r>
              <a:rPr lang="en-US" baseline="-25000" dirty="0"/>
              <a:t>4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EF75F-00AE-7BB9-95EB-F009B280069E}"/>
              </a:ext>
            </a:extLst>
          </p:cNvPr>
          <p:cNvSpPr txBox="1"/>
          <p:nvPr/>
        </p:nvSpPr>
        <p:spPr>
          <a:xfrm>
            <a:off x="1173440" y="393782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y.b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8EDBBE-4F76-DE46-E800-8C912F843951}"/>
              </a:ext>
            </a:extLst>
          </p:cNvPr>
          <p:cNvSpPr txBox="1"/>
          <p:nvPr/>
        </p:nvSpPr>
        <p:spPr>
          <a:xfrm>
            <a:off x="1880022" y="393782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y.b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B1D0B5-129F-0CBB-CD50-0A5DBF7401C0}"/>
              </a:ext>
            </a:extLst>
          </p:cNvPr>
          <p:cNvSpPr txBox="1"/>
          <p:nvPr/>
        </p:nvSpPr>
        <p:spPr>
          <a:xfrm>
            <a:off x="2586604" y="393782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y.b</a:t>
            </a:r>
            <a:r>
              <a:rPr lang="en-US" baseline="-25000" dirty="0"/>
              <a:t>3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560463-2363-5E7A-492D-433F39D42340}"/>
              </a:ext>
            </a:extLst>
          </p:cNvPr>
          <p:cNvSpPr txBox="1"/>
          <p:nvPr/>
        </p:nvSpPr>
        <p:spPr>
          <a:xfrm>
            <a:off x="3283589" y="3937823"/>
            <a:ext cx="7065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y.b</a:t>
            </a:r>
            <a:r>
              <a:rPr lang="en-US" baseline="-25000" dirty="0"/>
              <a:t>4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A36243-80C8-0495-F09E-5E727EB4C2AC}"/>
              </a:ext>
            </a:extLst>
          </p:cNvPr>
          <p:cNvSpPr txBox="1"/>
          <p:nvPr/>
        </p:nvSpPr>
        <p:spPr>
          <a:xfrm>
            <a:off x="631113" y="3713442"/>
            <a:ext cx="25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2148808D-5456-7821-FFB7-05543E009B1A}"/>
              </a:ext>
            </a:extLst>
          </p:cNvPr>
          <p:cNvSpPr/>
          <p:nvPr/>
        </p:nvSpPr>
        <p:spPr>
          <a:xfrm>
            <a:off x="911730" y="3498715"/>
            <a:ext cx="261710" cy="86613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83C944-F99E-FB1C-F9D0-B62E05AA722D}"/>
              </a:ext>
            </a:extLst>
          </p:cNvPr>
          <p:cNvCxnSpPr>
            <a:cxnSpLocks/>
            <a:stCxn id="8" idx="3"/>
            <a:endCxn id="28" idx="2"/>
          </p:cNvCxnSpPr>
          <p:nvPr/>
        </p:nvCxnSpPr>
        <p:spPr>
          <a:xfrm>
            <a:off x="3990171" y="2643819"/>
            <a:ext cx="1356268" cy="17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A5E5AD5-2879-C58C-3AE2-55AC088EFDB0}"/>
              </a:ext>
            </a:extLst>
          </p:cNvPr>
          <p:cNvSpPr txBox="1"/>
          <p:nvPr/>
        </p:nvSpPr>
        <p:spPr>
          <a:xfrm>
            <a:off x="5346439" y="2462725"/>
            <a:ext cx="367877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728F39-E1A7-9D0C-5A42-41593984FF66}"/>
              </a:ext>
            </a:extLst>
          </p:cNvPr>
          <p:cNvSpPr txBox="1"/>
          <p:nvPr/>
        </p:nvSpPr>
        <p:spPr>
          <a:xfrm>
            <a:off x="5346439" y="2874945"/>
            <a:ext cx="367877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F81CD5-349B-F438-64FB-E37CA458455B}"/>
              </a:ext>
            </a:extLst>
          </p:cNvPr>
          <p:cNvSpPr txBox="1"/>
          <p:nvPr/>
        </p:nvSpPr>
        <p:spPr>
          <a:xfrm>
            <a:off x="5346439" y="3494990"/>
            <a:ext cx="367877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2F3EEB-EAFC-A69E-F6F1-AB7F5ED990AE}"/>
              </a:ext>
            </a:extLst>
          </p:cNvPr>
          <p:cNvSpPr txBox="1"/>
          <p:nvPr/>
        </p:nvSpPr>
        <p:spPr>
          <a:xfrm>
            <a:off x="5346439" y="3948775"/>
            <a:ext cx="367877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7106898-EC02-A9CF-4FE2-91A44AC638A6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3988755" y="3032273"/>
            <a:ext cx="1357684" cy="6455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1019E69-5F85-C900-3C55-BD9652EB2B2F}"/>
              </a:ext>
            </a:extLst>
          </p:cNvPr>
          <p:cNvCxnSpPr/>
          <p:nvPr/>
        </p:nvCxnSpPr>
        <p:spPr>
          <a:xfrm flipV="1">
            <a:off x="3988755" y="3702219"/>
            <a:ext cx="1343829" cy="7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D230AE8-9DF5-EE62-0859-EFEFEDB619D9}"/>
              </a:ext>
            </a:extLst>
          </p:cNvPr>
          <p:cNvCxnSpPr/>
          <p:nvPr/>
        </p:nvCxnSpPr>
        <p:spPr>
          <a:xfrm flipV="1">
            <a:off x="3988755" y="4118564"/>
            <a:ext cx="1343829" cy="78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DAAD516-BD54-AF72-EEA8-CD96CF64F40F}"/>
              </a:ext>
            </a:extLst>
          </p:cNvPr>
          <p:cNvCxnSpPr>
            <a:cxnSpLocks/>
            <a:stCxn id="8" idx="3"/>
            <a:endCxn id="30" idx="2"/>
          </p:cNvCxnSpPr>
          <p:nvPr/>
        </p:nvCxnSpPr>
        <p:spPr>
          <a:xfrm>
            <a:off x="3990171" y="2643819"/>
            <a:ext cx="1356268" cy="4140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3418A4F-493E-2018-4569-45837E3E9B92}"/>
              </a:ext>
            </a:extLst>
          </p:cNvPr>
          <p:cNvCxnSpPr>
            <a:cxnSpLocks/>
            <a:stCxn id="13" idx="3"/>
            <a:endCxn id="32" idx="2"/>
          </p:cNvCxnSpPr>
          <p:nvPr/>
        </p:nvCxnSpPr>
        <p:spPr>
          <a:xfrm>
            <a:off x="3990171" y="3045017"/>
            <a:ext cx="1356268" cy="108663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144DF0C-22F2-768A-76E8-74EFB6596B20}"/>
              </a:ext>
            </a:extLst>
          </p:cNvPr>
          <p:cNvCxnSpPr>
            <a:cxnSpLocks/>
            <a:stCxn id="22" idx="3"/>
            <a:endCxn id="30" idx="2"/>
          </p:cNvCxnSpPr>
          <p:nvPr/>
        </p:nvCxnSpPr>
        <p:spPr>
          <a:xfrm flipV="1">
            <a:off x="3990171" y="3057825"/>
            <a:ext cx="1356268" cy="1064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AA22F4C-4336-B81F-BC18-0FDEBF5535CA}"/>
              </a:ext>
            </a:extLst>
          </p:cNvPr>
          <p:cNvCxnSpPr>
            <a:cxnSpLocks/>
            <a:stCxn id="18" idx="3"/>
            <a:endCxn id="28" idx="2"/>
          </p:cNvCxnSpPr>
          <p:nvPr/>
        </p:nvCxnSpPr>
        <p:spPr>
          <a:xfrm flipV="1">
            <a:off x="3990171" y="2645605"/>
            <a:ext cx="1356268" cy="10756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65C6278-0935-F874-2804-E96A6BB4ED3A}"/>
              </a:ext>
            </a:extLst>
          </p:cNvPr>
          <p:cNvSpPr txBox="1"/>
          <p:nvPr/>
        </p:nvSpPr>
        <p:spPr>
          <a:xfrm>
            <a:off x="6437609" y="2883078"/>
            <a:ext cx="367877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94A7078-D75B-EE1F-C106-623A37077EA7}"/>
              </a:ext>
            </a:extLst>
          </p:cNvPr>
          <p:cNvCxnSpPr>
            <a:cxnSpLocks/>
            <a:stCxn id="28" idx="6"/>
            <a:endCxn id="55" idx="2"/>
          </p:cNvCxnSpPr>
          <p:nvPr/>
        </p:nvCxnSpPr>
        <p:spPr>
          <a:xfrm flipV="1">
            <a:off x="5714316" y="2642033"/>
            <a:ext cx="2022213" cy="357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B6F68EE-BCB1-B164-122D-99BC1CF18DCE}"/>
              </a:ext>
            </a:extLst>
          </p:cNvPr>
          <p:cNvSpPr txBox="1"/>
          <p:nvPr/>
        </p:nvSpPr>
        <p:spPr>
          <a:xfrm>
            <a:off x="7736529" y="2459153"/>
            <a:ext cx="367877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623B3B-2B3F-0E4B-EF1F-F3CC0D606D22}"/>
              </a:ext>
            </a:extLst>
          </p:cNvPr>
          <p:cNvSpPr txBox="1"/>
          <p:nvPr/>
        </p:nvSpPr>
        <p:spPr>
          <a:xfrm>
            <a:off x="7750383" y="2878291"/>
            <a:ext cx="367877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77399A0-04B4-0455-E04C-00A294F382E1}"/>
              </a:ext>
            </a:extLst>
          </p:cNvPr>
          <p:cNvCxnSpPr>
            <a:cxnSpLocks/>
            <a:stCxn id="30" idx="6"/>
            <a:endCxn id="51" idx="2"/>
          </p:cNvCxnSpPr>
          <p:nvPr/>
        </p:nvCxnSpPr>
        <p:spPr>
          <a:xfrm>
            <a:off x="5714316" y="3057825"/>
            <a:ext cx="723293" cy="81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1DBFEC4-BE86-E3F6-EDA9-9A210336C8FB}"/>
              </a:ext>
            </a:extLst>
          </p:cNvPr>
          <p:cNvCxnSpPr>
            <a:cxnSpLocks/>
            <a:stCxn id="31" idx="6"/>
            <a:endCxn id="51" idx="2"/>
          </p:cNvCxnSpPr>
          <p:nvPr/>
        </p:nvCxnSpPr>
        <p:spPr>
          <a:xfrm flipV="1">
            <a:off x="5714316" y="3065958"/>
            <a:ext cx="723293" cy="6119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954A9CF-0B08-84F7-10F5-795B95CF2585}"/>
              </a:ext>
            </a:extLst>
          </p:cNvPr>
          <p:cNvCxnSpPr>
            <a:cxnSpLocks/>
            <a:stCxn id="32" idx="6"/>
          </p:cNvCxnSpPr>
          <p:nvPr/>
        </p:nvCxnSpPr>
        <p:spPr>
          <a:xfrm>
            <a:off x="5714316" y="4131655"/>
            <a:ext cx="7393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CC81456-8DBE-361F-7053-BB81B91A17B2}"/>
              </a:ext>
            </a:extLst>
          </p:cNvPr>
          <p:cNvSpPr txBox="1"/>
          <p:nvPr/>
        </p:nvSpPr>
        <p:spPr>
          <a:xfrm>
            <a:off x="6464586" y="3767244"/>
            <a:ext cx="1356268" cy="1477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Key Switching Algorithm</a:t>
            </a:r>
          </a:p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16EAF7-A174-045B-F89F-BAAA7C0C217C}"/>
              </a:ext>
            </a:extLst>
          </p:cNvPr>
          <p:cNvSpPr txBox="1"/>
          <p:nvPr/>
        </p:nvSpPr>
        <p:spPr>
          <a:xfrm>
            <a:off x="2242157" y="4649662"/>
            <a:ext cx="1746598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Key Switching Hints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4B6B4BC-24EE-99F3-D7D6-A11FB023A019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3988755" y="4972828"/>
            <a:ext cx="24648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BCE1030-E3A6-97B8-64F8-8AAA67930110}"/>
              </a:ext>
            </a:extLst>
          </p:cNvPr>
          <p:cNvCxnSpPr>
            <a:cxnSpLocks/>
            <a:stCxn id="51" idx="6"/>
            <a:endCxn id="56" idx="2"/>
          </p:cNvCxnSpPr>
          <p:nvPr/>
        </p:nvCxnSpPr>
        <p:spPr>
          <a:xfrm flipV="1">
            <a:off x="6805486" y="3061171"/>
            <a:ext cx="944897" cy="47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D04C47D-8E20-9492-6460-0EF0DF635461}"/>
              </a:ext>
            </a:extLst>
          </p:cNvPr>
          <p:cNvCxnSpPr>
            <a:cxnSpLocks/>
            <a:stCxn id="70" idx="0"/>
            <a:endCxn id="55" idx="2"/>
          </p:cNvCxnSpPr>
          <p:nvPr/>
        </p:nvCxnSpPr>
        <p:spPr>
          <a:xfrm flipV="1">
            <a:off x="7142720" y="2642033"/>
            <a:ext cx="593809" cy="11252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60B7CA0-9B91-92C1-D699-DAFC1B65FEA0}"/>
              </a:ext>
            </a:extLst>
          </p:cNvPr>
          <p:cNvCxnSpPr>
            <a:cxnSpLocks/>
            <a:stCxn id="70" idx="0"/>
            <a:endCxn id="56" idx="2"/>
          </p:cNvCxnSpPr>
          <p:nvPr/>
        </p:nvCxnSpPr>
        <p:spPr>
          <a:xfrm flipV="1">
            <a:off x="7142720" y="3061171"/>
            <a:ext cx="607663" cy="7060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Left Brace 84">
            <a:extLst>
              <a:ext uri="{FF2B5EF4-FFF2-40B4-BE49-F238E27FC236}">
                <a16:creationId xmlns:a16="http://schemas.microsoft.com/office/drawing/2014/main" id="{C06C5EC3-53C4-C1E6-7637-76810A52157D}"/>
              </a:ext>
            </a:extLst>
          </p:cNvPr>
          <p:cNvSpPr/>
          <p:nvPr/>
        </p:nvSpPr>
        <p:spPr>
          <a:xfrm rot="10800000">
            <a:off x="8123660" y="2395420"/>
            <a:ext cx="261710" cy="86613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A5A0E24-2196-DB6E-4101-6D29E64940B9}"/>
              </a:ext>
            </a:extLst>
          </p:cNvPr>
          <p:cNvSpPr txBox="1"/>
          <p:nvPr/>
        </p:nvSpPr>
        <p:spPr>
          <a:xfrm>
            <a:off x="8501925" y="2626754"/>
            <a:ext cx="46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A13762D-B32A-F802-7CB1-4299BBD6BD29}"/>
              </a:ext>
            </a:extLst>
          </p:cNvPr>
          <p:cNvSpPr txBox="1"/>
          <p:nvPr/>
        </p:nvSpPr>
        <p:spPr>
          <a:xfrm>
            <a:off x="1288108" y="5467363"/>
            <a:ext cx="9612239" cy="510778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Problem : Expensive polynomial multiplication, </a:t>
            </a:r>
            <a:r>
              <a:rPr lang="en-US" sz="2400" b="1" i="1" dirty="0">
                <a:latin typeface="Palatino Linotype" panose="02040502050505030304" pitchFamily="18" charset="0"/>
              </a:rPr>
              <a:t>O(N</a:t>
            </a:r>
            <a:r>
              <a:rPr lang="en-US" sz="2400" b="1" i="1" baseline="30000" dirty="0">
                <a:latin typeface="Palatino Linotype" panose="02040502050505030304" pitchFamily="18" charset="0"/>
              </a:rPr>
              <a:t>2</a:t>
            </a:r>
            <a:r>
              <a:rPr lang="en-US" sz="2400" b="1" i="1" dirty="0">
                <a:latin typeface="Palatino Linotype" panose="02040502050505030304" pitchFamily="18" charset="0"/>
              </a:rPr>
              <a:t>) </a:t>
            </a:r>
            <a:r>
              <a:rPr lang="en-US" sz="2400" b="1" dirty="0">
                <a:latin typeface="Palatino Linotype" panose="02040502050505030304" pitchFamily="18" charset="0"/>
              </a:rPr>
              <a:t>complexity</a:t>
            </a:r>
          </a:p>
        </p:txBody>
      </p:sp>
    </p:spTree>
    <p:extLst>
      <p:ext uri="{BB962C8B-B14F-4D97-AF65-F5344CB8AC3E}">
        <p14:creationId xmlns:p14="http://schemas.microsoft.com/office/powerpoint/2010/main" val="298437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4FCA-EF4E-C5DE-B045-E1EF240CA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FHE Operations - </a:t>
            </a:r>
            <a:r>
              <a:rPr lang="en-US" dirty="0" err="1"/>
              <a:t>Mult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9E5C9-5AC5-E6A4-63E1-634BE4B9E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56912"/>
            <a:ext cx="10363200" cy="398970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Polynomial multiplication is Convolution followed by polynomial reduction - </a:t>
            </a:r>
            <a:r>
              <a:rPr lang="en-US" i="1" dirty="0"/>
              <a:t>O(N</a:t>
            </a:r>
            <a:r>
              <a:rPr lang="en-US" i="1" baseline="30000" dirty="0"/>
              <a:t>2</a:t>
            </a:r>
            <a:r>
              <a:rPr lang="en-US" i="1" dirty="0"/>
              <a:t>)</a:t>
            </a:r>
            <a:r>
              <a:rPr lang="en-US" dirty="0"/>
              <a:t> operational complexity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NTT can be performed in O(N log N) complexity by using FFT.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cs typeface="Arial" panose="020B0604020202020204" pitchFamily="34" charset="0"/>
              </a:rPr>
              <a:t>⊗ - Convolution</a:t>
            </a:r>
            <a:endParaRPr lang="en-US" dirty="0"/>
          </a:p>
          <a:p>
            <a:r>
              <a:rPr lang="en-US" dirty="0"/>
              <a:t>⊙ - Element wise multiplication</a:t>
            </a:r>
            <a:endParaRPr lang="en-US" baseline="30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6C9D9-4E4F-5C91-F277-F21E5C2B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B403C-0866-7A82-C0BB-11778CCFB94A}"/>
              </a:ext>
            </a:extLst>
          </p:cNvPr>
          <p:cNvSpPr txBox="1"/>
          <p:nvPr/>
        </p:nvSpPr>
        <p:spPr>
          <a:xfrm>
            <a:off x="3414781" y="2729711"/>
            <a:ext cx="5964746" cy="510778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Solution : Number Theoretic Transform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2223CD-765A-ABA9-643E-173D6CDC541D}"/>
              </a:ext>
            </a:extLst>
          </p:cNvPr>
          <p:cNvSpPr txBox="1"/>
          <p:nvPr/>
        </p:nvSpPr>
        <p:spPr>
          <a:xfrm>
            <a:off x="2640181" y="4036856"/>
            <a:ext cx="13012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n-US" dirty="0">
                <a:cs typeface="Arial" panose="020B0604020202020204" pitchFamily="34" charset="0"/>
              </a:rPr>
              <a:t>⊗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7BF1439F-E737-935C-5972-E9899A398A48}"/>
              </a:ext>
            </a:extLst>
          </p:cNvPr>
          <p:cNvSpPr/>
          <p:nvPr/>
        </p:nvSpPr>
        <p:spPr>
          <a:xfrm flipV="1">
            <a:off x="4162654" y="4142957"/>
            <a:ext cx="789709" cy="19085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E76318-7617-20FE-89A6-054E1AB33C15}"/>
              </a:ext>
            </a:extLst>
          </p:cNvPr>
          <p:cNvSpPr txBox="1"/>
          <p:nvPr/>
        </p:nvSpPr>
        <p:spPr>
          <a:xfrm>
            <a:off x="4086453" y="4406188"/>
            <a:ext cx="94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NTT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70B019-DD2D-8FCC-C7EE-E1AADC79B364}"/>
              </a:ext>
            </a:extLst>
          </p:cNvPr>
          <p:cNvSpPr txBox="1"/>
          <p:nvPr/>
        </p:nvSpPr>
        <p:spPr>
          <a:xfrm>
            <a:off x="5177485" y="4015557"/>
            <a:ext cx="280273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xy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/>
              <a:t>= NTT</a:t>
            </a:r>
            <a:r>
              <a:rPr lang="en-US" baseline="30000" dirty="0"/>
              <a:t>-1</a:t>
            </a:r>
            <a:r>
              <a:rPr lang="en-US" dirty="0"/>
              <a:t> (NTT(x) ⊙ (y))</a:t>
            </a:r>
            <a:endParaRPr lang="en-US" baseline="300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99A69F1-51BF-C58B-249C-6689C13E1398}"/>
              </a:ext>
            </a:extLst>
          </p:cNvPr>
          <p:cNvGrpSpPr/>
          <p:nvPr/>
        </p:nvGrpSpPr>
        <p:grpSpPr>
          <a:xfrm>
            <a:off x="6187385" y="4444762"/>
            <a:ext cx="2028360" cy="2117627"/>
            <a:chOff x="6187385" y="4444762"/>
            <a:chExt cx="2028360" cy="2117627"/>
          </a:xfrm>
        </p:grpSpPr>
        <p:sp>
          <p:nvSpPr>
            <p:cNvPr id="33" name="Explosion 1 32">
              <a:extLst>
                <a:ext uri="{FF2B5EF4-FFF2-40B4-BE49-F238E27FC236}">
                  <a16:creationId xmlns:a16="http://schemas.microsoft.com/office/drawing/2014/main" id="{A57C7502-7E28-C8E6-0852-0DEBA9C77D1C}"/>
                </a:ext>
              </a:extLst>
            </p:cNvPr>
            <p:cNvSpPr/>
            <p:nvPr/>
          </p:nvSpPr>
          <p:spPr>
            <a:xfrm>
              <a:off x="6187385" y="4444762"/>
              <a:ext cx="2028360" cy="2117627"/>
            </a:xfrm>
            <a:prstGeom prst="irregularSeal1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574BA2-8CCF-85E6-DD84-2F22A4F3B3AB}"/>
                </a:ext>
              </a:extLst>
            </p:cNvPr>
            <p:cNvSpPr txBox="1"/>
            <p:nvPr/>
          </p:nvSpPr>
          <p:spPr>
            <a:xfrm>
              <a:off x="6455824" y="4973045"/>
              <a:ext cx="133964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High Compute Overhead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36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6399-EC79-DBF6-B666-7F468865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FHE Operations - Rotate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B12BE-75BE-B268-0F06-629D3991D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Ciphertext rotation by </a:t>
            </a:r>
            <a:r>
              <a:rPr lang="en-US" i="1" dirty="0"/>
              <a:t>k</a:t>
            </a:r>
            <a:r>
              <a:rPr lang="en-US" dirty="0"/>
              <a:t> positions, implemented using automorphism</a:t>
            </a:r>
          </a:p>
          <a:p>
            <a:r>
              <a:rPr lang="en-US" dirty="0"/>
              <a:t>For any index </a:t>
            </a:r>
            <a:r>
              <a:rPr lang="en-US" i="1" dirty="0" err="1"/>
              <a:t>i</a:t>
            </a:r>
            <a:r>
              <a:rPr lang="en-US" dirty="0"/>
              <a:t>, automorphism is denoted by :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i="1" dirty="0" err="1"/>
              <a:t>newindex</a:t>
            </a:r>
            <a:r>
              <a:rPr lang="en-US" i="1" baseline="-25000" dirty="0" err="1"/>
              <a:t>k</a:t>
            </a:r>
            <a:r>
              <a:rPr lang="en-US" i="1" dirty="0"/>
              <a:t>(</a:t>
            </a:r>
            <a:r>
              <a:rPr lang="en-US" i="1" dirty="0" err="1"/>
              <a:t>i</a:t>
            </a:r>
            <a:r>
              <a:rPr lang="en-US" i="1" dirty="0"/>
              <a:t>) = i.5</a:t>
            </a:r>
            <a:r>
              <a:rPr lang="en-US" i="1" baseline="30000" dirty="0"/>
              <a:t>k</a:t>
            </a:r>
            <a:r>
              <a:rPr lang="en-US" i="1" dirty="0"/>
              <a:t> mod N for </a:t>
            </a:r>
            <a:r>
              <a:rPr lang="en-US" i="1" dirty="0" err="1"/>
              <a:t>i</a:t>
            </a:r>
            <a:r>
              <a:rPr lang="en-US" i="1" dirty="0"/>
              <a:t>=0, … N-1</a:t>
            </a:r>
          </a:p>
          <a:p>
            <a:r>
              <a:rPr lang="en-US" dirty="0"/>
              <a:t>For example, if </a:t>
            </a:r>
            <a:r>
              <a:rPr lang="en-US" i="1" dirty="0"/>
              <a:t>k = 2</a:t>
            </a:r>
            <a:r>
              <a:rPr lang="en-US" dirty="0"/>
              <a:t>, </a:t>
            </a:r>
            <a:r>
              <a:rPr lang="en-US" i="1" dirty="0"/>
              <a:t>N = 1024</a:t>
            </a:r>
          </a:p>
          <a:p>
            <a:pPr marL="514350" indent="-285750"/>
            <a:r>
              <a:rPr lang="en-US" i="1" dirty="0" err="1"/>
              <a:t>newindex</a:t>
            </a:r>
            <a:r>
              <a:rPr lang="en-US" i="1" baseline="-25000" dirty="0" err="1"/>
              <a:t>k</a:t>
            </a:r>
            <a:r>
              <a:rPr lang="en-US" i="1" dirty="0"/>
              <a:t>(205) = 205.5</a:t>
            </a:r>
            <a:r>
              <a:rPr lang="en-US" i="1" baseline="30000" dirty="0"/>
              <a:t>2</a:t>
            </a:r>
            <a:r>
              <a:rPr lang="en-US" i="1" dirty="0"/>
              <a:t> mod 1024 = 5, </a:t>
            </a:r>
            <a:r>
              <a:rPr lang="en-US" dirty="0"/>
              <a:t>which means during a rotate operation a</a:t>
            </a:r>
            <a:r>
              <a:rPr lang="en-US" baseline="-25000" dirty="0"/>
              <a:t>205</a:t>
            </a:r>
            <a:r>
              <a:rPr lang="en-US" dirty="0"/>
              <a:t> goes to a</a:t>
            </a:r>
            <a:r>
              <a:rPr lang="en-US" baseline="-25000" dirty="0"/>
              <a:t>5</a:t>
            </a:r>
            <a:endParaRPr lang="en-US" i="1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3586E-6E5A-0268-9579-D79F965C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D85D0-F9E2-232B-B251-9788BBD09022}"/>
              </a:ext>
            </a:extLst>
          </p:cNvPr>
          <p:cNvSpPr txBox="1"/>
          <p:nvPr/>
        </p:nvSpPr>
        <p:spPr>
          <a:xfrm>
            <a:off x="1437550" y="5284676"/>
            <a:ext cx="1746598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Key Switching Hints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212CE-55AD-AE69-9C94-AF9AC39D8BF9}"/>
              </a:ext>
            </a:extLst>
          </p:cNvPr>
          <p:cNvSpPr txBox="1"/>
          <p:nvPr/>
        </p:nvSpPr>
        <p:spPr>
          <a:xfrm>
            <a:off x="1437549" y="4822899"/>
            <a:ext cx="174659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Ciphertext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13A2F6-6EB0-168B-D357-3B0AF3530FB4}"/>
              </a:ext>
            </a:extLst>
          </p:cNvPr>
          <p:cNvSpPr txBox="1"/>
          <p:nvPr/>
        </p:nvSpPr>
        <p:spPr>
          <a:xfrm>
            <a:off x="6094227" y="4833080"/>
            <a:ext cx="1746598" cy="1477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Key Switching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B4F427-BFC1-2514-7E41-08EBE759A05D}"/>
              </a:ext>
            </a:extLst>
          </p:cNvPr>
          <p:cNvSpPr txBox="1"/>
          <p:nvPr/>
        </p:nvSpPr>
        <p:spPr>
          <a:xfrm>
            <a:off x="3853274" y="4822899"/>
            <a:ext cx="17465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Automorphism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F25CA1-8E2E-3CE8-C834-09EF0F2542E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184148" y="5607842"/>
            <a:ext cx="2910080" cy="22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578E85-ABA2-9541-D13A-30DF3F9AF9AB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3184146" y="5007565"/>
            <a:ext cx="66912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132537-4B4E-CBD2-FA29-6DDD6F0516F6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599871" y="5007565"/>
            <a:ext cx="49435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ACA867-7B25-B535-BF47-AE014EFFB5A8}"/>
              </a:ext>
            </a:extLst>
          </p:cNvPr>
          <p:cNvSpPr txBox="1"/>
          <p:nvPr/>
        </p:nvSpPr>
        <p:spPr>
          <a:xfrm>
            <a:off x="9004307" y="4822899"/>
            <a:ext cx="174659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Rotated Ciphertext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CD81E9-2B8C-5512-5B71-2C55E8F825BE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840825" y="5146065"/>
            <a:ext cx="116348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997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0A098E0-88FE-3F9E-813B-230C85269E8E}"/>
              </a:ext>
            </a:extLst>
          </p:cNvPr>
          <p:cNvSpPr/>
          <p:nvPr/>
        </p:nvSpPr>
        <p:spPr>
          <a:xfrm flipH="1">
            <a:off x="7339123" y="1926688"/>
            <a:ext cx="1783119" cy="3078103"/>
          </a:xfrm>
          <a:prstGeom prst="roundRect">
            <a:avLst/>
          </a:prstGeom>
          <a:solidFill>
            <a:srgbClr val="FFFD78">
              <a:alpha val="6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B815D-5285-A241-8E07-09B597EF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Homomorphic Encryption(FHE)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3618E-A65C-2E4A-A5A8-845216DB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Graphic 4" descr="Web design with solid fill">
            <a:extLst>
              <a:ext uri="{FF2B5EF4-FFF2-40B4-BE49-F238E27FC236}">
                <a16:creationId xmlns:a16="http://schemas.microsoft.com/office/drawing/2014/main" id="{4671835A-E0C8-8745-B8EC-7856F7E4C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8148" y="2010552"/>
            <a:ext cx="1038434" cy="1038434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395A183F-E220-E148-BAF9-2E3226425FA5}"/>
              </a:ext>
            </a:extLst>
          </p:cNvPr>
          <p:cNvSpPr/>
          <p:nvPr/>
        </p:nvSpPr>
        <p:spPr>
          <a:xfrm>
            <a:off x="4936358" y="2440829"/>
            <a:ext cx="534557" cy="1607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05B78-2FE7-824A-905C-1F861AD8A2D9}"/>
              </a:ext>
            </a:extLst>
          </p:cNvPr>
          <p:cNvSpPr txBox="1"/>
          <p:nvPr/>
        </p:nvSpPr>
        <p:spPr>
          <a:xfrm>
            <a:off x="2250841" y="2872976"/>
            <a:ext cx="1259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Client has data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0C0AB-4537-1A4B-8275-59C9BE9F804D}"/>
              </a:ext>
            </a:extLst>
          </p:cNvPr>
          <p:cNvSpPr txBox="1"/>
          <p:nvPr/>
        </p:nvSpPr>
        <p:spPr>
          <a:xfrm>
            <a:off x="3719548" y="2864320"/>
            <a:ext cx="14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Secret Key</a:t>
            </a:r>
            <a:endParaRPr lang="en-US" i="1" dirty="0"/>
          </a:p>
        </p:txBody>
      </p:sp>
      <p:pic>
        <p:nvPicPr>
          <p:cNvPr id="9" name="Graphic 8" descr="Lock with solid fill">
            <a:extLst>
              <a:ext uri="{FF2B5EF4-FFF2-40B4-BE49-F238E27FC236}">
                <a16:creationId xmlns:a16="http://schemas.microsoft.com/office/drawing/2014/main" id="{FED24B4A-6125-654E-96AF-4621B1A437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2632" y="2177989"/>
            <a:ext cx="703559" cy="703559"/>
          </a:xfrm>
          <a:prstGeom prst="rect">
            <a:avLst/>
          </a:prstGeom>
        </p:spPr>
      </p:pic>
      <p:pic>
        <p:nvPicPr>
          <p:cNvPr id="10" name="Graphic 9" descr="Key with solid fill">
            <a:extLst>
              <a:ext uri="{FF2B5EF4-FFF2-40B4-BE49-F238E27FC236}">
                <a16:creationId xmlns:a16="http://schemas.microsoft.com/office/drawing/2014/main" id="{21F47C0E-4DA5-EE40-8A55-4E88982E23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01407" y="2169417"/>
            <a:ext cx="703559" cy="703559"/>
          </a:xfrm>
          <a:prstGeom prst="rect">
            <a:avLst/>
          </a:prstGeom>
        </p:spPr>
      </p:pic>
      <p:pic>
        <p:nvPicPr>
          <p:cNvPr id="11" name="Graphic 10" descr="Add with solid fill">
            <a:extLst>
              <a:ext uri="{FF2B5EF4-FFF2-40B4-BE49-F238E27FC236}">
                <a16:creationId xmlns:a16="http://schemas.microsoft.com/office/drawing/2014/main" id="{B1BB1337-F62B-1F48-8CED-17856B48FE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6486" y="2328737"/>
            <a:ext cx="391757" cy="3917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696CF9-2A9C-D94B-BE50-3695ABC163AB}"/>
              </a:ext>
            </a:extLst>
          </p:cNvPr>
          <p:cNvSpPr txBox="1"/>
          <p:nvPr/>
        </p:nvSpPr>
        <p:spPr>
          <a:xfrm>
            <a:off x="5186825" y="2864320"/>
            <a:ext cx="1424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Encrypted data = E(x)</a:t>
            </a:r>
            <a:endParaRPr lang="en-US" i="1" dirty="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B0460D3-819E-9046-9364-FE72CB0DCA77}"/>
              </a:ext>
            </a:extLst>
          </p:cNvPr>
          <p:cNvSpPr/>
          <p:nvPr/>
        </p:nvSpPr>
        <p:spPr>
          <a:xfrm rot="1577993">
            <a:off x="6542664" y="2688335"/>
            <a:ext cx="786529" cy="1762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 descr="Syncing cloud with solid fill">
            <a:extLst>
              <a:ext uri="{FF2B5EF4-FFF2-40B4-BE49-F238E27FC236}">
                <a16:creationId xmlns:a16="http://schemas.microsoft.com/office/drawing/2014/main" id="{E3FA2230-A17B-FA4B-9FCB-3641809F86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98401" y="2461813"/>
            <a:ext cx="1767063" cy="1767063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FB66BEFF-5593-7348-BAC4-8FE33C8DA779}"/>
              </a:ext>
            </a:extLst>
          </p:cNvPr>
          <p:cNvSpPr/>
          <p:nvPr/>
        </p:nvSpPr>
        <p:spPr>
          <a:xfrm rot="8545932">
            <a:off x="6528096" y="3831103"/>
            <a:ext cx="786529" cy="1762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ADA404-A3DD-074B-B4E3-067981B5B2F2}"/>
              </a:ext>
            </a:extLst>
          </p:cNvPr>
          <p:cNvSpPr txBox="1"/>
          <p:nvPr/>
        </p:nvSpPr>
        <p:spPr>
          <a:xfrm>
            <a:off x="7355181" y="3833741"/>
            <a:ext cx="17670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 computes some function f</a:t>
            </a:r>
            <a:endParaRPr lang="en-US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81FAA-8A07-2140-A2FF-1505E8D696BF}"/>
              </a:ext>
            </a:extLst>
          </p:cNvPr>
          <p:cNvSpPr txBox="1"/>
          <p:nvPr/>
        </p:nvSpPr>
        <p:spPr>
          <a:xfrm>
            <a:off x="5327115" y="3849514"/>
            <a:ext cx="11287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f(E(x)) given by server</a:t>
            </a:r>
            <a:endParaRPr lang="en-US" i="1" dirty="0"/>
          </a:p>
        </p:txBody>
      </p:sp>
      <p:pic>
        <p:nvPicPr>
          <p:cNvPr id="18" name="Graphic 17" descr="Key with solid fill">
            <a:extLst>
              <a:ext uri="{FF2B5EF4-FFF2-40B4-BE49-F238E27FC236}">
                <a16:creationId xmlns:a16="http://schemas.microsoft.com/office/drawing/2014/main" id="{CE864005-BA54-924F-8533-C0855BB0C7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74053" y="3778215"/>
            <a:ext cx="703559" cy="703559"/>
          </a:xfrm>
          <a:prstGeom prst="rect">
            <a:avLst/>
          </a:prstGeom>
        </p:spPr>
      </p:pic>
      <p:pic>
        <p:nvPicPr>
          <p:cNvPr id="19" name="Graphic 18" descr="Add with solid fill">
            <a:extLst>
              <a:ext uri="{FF2B5EF4-FFF2-40B4-BE49-F238E27FC236}">
                <a16:creationId xmlns:a16="http://schemas.microsoft.com/office/drawing/2014/main" id="{DAB5C8C0-BA8F-5645-ACEB-3291CD0F98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5975" y="3922904"/>
            <a:ext cx="391757" cy="3917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1A32E6-6B88-BC4A-8A71-AB537646A15B}"/>
              </a:ext>
            </a:extLst>
          </p:cNvPr>
          <p:cNvSpPr txBox="1"/>
          <p:nvPr/>
        </p:nvSpPr>
        <p:spPr>
          <a:xfrm>
            <a:off x="3741060" y="4357582"/>
            <a:ext cx="14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Secret Key</a:t>
            </a:r>
            <a:endParaRPr lang="en-US" i="1" dirty="0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21ADFCC2-C5AD-5644-89C1-4D7BA72C56A8}"/>
              </a:ext>
            </a:extLst>
          </p:cNvPr>
          <p:cNvSpPr/>
          <p:nvPr/>
        </p:nvSpPr>
        <p:spPr>
          <a:xfrm rot="10800000">
            <a:off x="3422999" y="4049627"/>
            <a:ext cx="534557" cy="16073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021BE9-D63C-A743-9CBB-0A30A81FFEA8}"/>
              </a:ext>
            </a:extLst>
          </p:cNvPr>
          <p:cNvSpPr txBox="1"/>
          <p:nvPr/>
        </p:nvSpPr>
        <p:spPr>
          <a:xfrm>
            <a:off x="2155005" y="3907928"/>
            <a:ext cx="1424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f(x) needed by client</a:t>
            </a:r>
            <a:endParaRPr lang="en-US" i="1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33BB669-0E8E-3735-02DD-49D1FA19F6E7}"/>
              </a:ext>
            </a:extLst>
          </p:cNvPr>
          <p:cNvSpPr/>
          <p:nvPr/>
        </p:nvSpPr>
        <p:spPr>
          <a:xfrm>
            <a:off x="2155005" y="1910893"/>
            <a:ext cx="4300887" cy="310445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70FE8F-20B4-8178-7901-52A42BD89C46}"/>
              </a:ext>
            </a:extLst>
          </p:cNvPr>
          <p:cNvSpPr txBox="1"/>
          <p:nvPr/>
        </p:nvSpPr>
        <p:spPr>
          <a:xfrm>
            <a:off x="3806460" y="1608339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Client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4303435-8E2B-741E-4691-B493044FC09A}"/>
              </a:ext>
            </a:extLst>
          </p:cNvPr>
          <p:cNvSpPr/>
          <p:nvPr/>
        </p:nvSpPr>
        <p:spPr>
          <a:xfrm flipH="1">
            <a:off x="7339124" y="1912536"/>
            <a:ext cx="1783119" cy="30781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494201-BF14-3D2D-1535-6666CCC70FE5}"/>
              </a:ext>
            </a:extLst>
          </p:cNvPr>
          <p:cNvSpPr txBox="1"/>
          <p:nvPr/>
        </p:nvSpPr>
        <p:spPr>
          <a:xfrm>
            <a:off x="2112983" y="5055917"/>
            <a:ext cx="4190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Responsible for Encryption, Decryption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2E3DFE-6193-3005-8629-80B78CF47EAD}"/>
              </a:ext>
            </a:extLst>
          </p:cNvPr>
          <p:cNvSpPr txBox="1"/>
          <p:nvPr/>
        </p:nvSpPr>
        <p:spPr>
          <a:xfrm>
            <a:off x="6935928" y="5052040"/>
            <a:ext cx="2739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</a:rPr>
              <a:t>Responsible for Homomorphic Addition, Multiplication and other Ciphertext Maintenance Operations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E0DACC-1ABE-3D96-B750-2475979E5EFE}"/>
              </a:ext>
            </a:extLst>
          </p:cNvPr>
          <p:cNvSpPr txBox="1"/>
          <p:nvPr/>
        </p:nvSpPr>
        <p:spPr>
          <a:xfrm>
            <a:off x="7828970" y="1569114"/>
            <a:ext cx="836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Server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1CCE75-67BE-D121-0AD9-6E714D2D2E18}"/>
              </a:ext>
            </a:extLst>
          </p:cNvPr>
          <p:cNvSpPr txBox="1"/>
          <p:nvPr/>
        </p:nvSpPr>
        <p:spPr>
          <a:xfrm>
            <a:off x="2219560" y="3196402"/>
            <a:ext cx="6845904" cy="1464231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Palatino Linotype" panose="02040502050505030304" pitchFamily="18" charset="0"/>
              </a:rPr>
              <a:t>What are ciphertext maintenance operations?</a:t>
            </a:r>
          </a:p>
        </p:txBody>
      </p:sp>
    </p:spTree>
    <p:extLst>
      <p:ext uri="{BB962C8B-B14F-4D97-AF65-F5344CB8AC3E}">
        <p14:creationId xmlns:p14="http://schemas.microsoft.com/office/powerpoint/2010/main" val="312441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6399-EC79-DBF6-B666-7F468865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FHE Operations - </a:t>
            </a:r>
            <a:r>
              <a:rPr lang="en-US" dirty="0" err="1"/>
              <a:t>KeySwitch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B12BE-75BE-B268-0F06-629D3991D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56911"/>
            <a:ext cx="10363200" cy="3920433"/>
          </a:xfrm>
        </p:spPr>
        <p:txBody>
          <a:bodyPr>
            <a:normAutofit/>
          </a:bodyPr>
          <a:lstStyle/>
          <a:p>
            <a:r>
              <a:rPr lang="en-US" dirty="0"/>
              <a:t>Both multiply and rotate operations produce intermediate polynomials not decryptable with original secret key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Size of public key is larger than ciphertext</a:t>
            </a:r>
          </a:p>
          <a:p>
            <a:r>
              <a:rPr lang="en-US" dirty="0"/>
              <a:t>Rotation requires a separate key for each </a:t>
            </a:r>
            <a:r>
              <a:rPr lang="en-US" i="1" dirty="0"/>
              <a:t>k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3586E-6E5A-0268-9579-D79F965C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EBBA51-37F5-7E84-E615-25EBB502DD58}"/>
              </a:ext>
            </a:extLst>
          </p:cNvPr>
          <p:cNvSpPr txBox="1"/>
          <p:nvPr/>
        </p:nvSpPr>
        <p:spPr>
          <a:xfrm>
            <a:off x="1437549" y="2841699"/>
            <a:ext cx="174659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Ciphertext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A01C88-689B-64BB-D49C-9545DB46B044}"/>
              </a:ext>
            </a:extLst>
          </p:cNvPr>
          <p:cNvSpPr txBox="1"/>
          <p:nvPr/>
        </p:nvSpPr>
        <p:spPr>
          <a:xfrm>
            <a:off x="3906976" y="2571932"/>
            <a:ext cx="2161308" cy="9088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Multiplication or Rotation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3FC1D200-53A7-6506-6BE4-6FB69838E573}"/>
              </a:ext>
            </a:extLst>
          </p:cNvPr>
          <p:cNvSpPr/>
          <p:nvPr/>
        </p:nvSpPr>
        <p:spPr>
          <a:xfrm>
            <a:off x="3303247" y="2889962"/>
            <a:ext cx="484628" cy="27280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CBCD08CA-CE04-9188-D240-F3AF4A9E3ECC}"/>
              </a:ext>
            </a:extLst>
          </p:cNvPr>
          <p:cNvSpPr/>
          <p:nvPr/>
        </p:nvSpPr>
        <p:spPr>
          <a:xfrm>
            <a:off x="6187385" y="2889962"/>
            <a:ext cx="484628" cy="27280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1EDEA4-1F59-2253-C60F-22317514CE8D}"/>
              </a:ext>
            </a:extLst>
          </p:cNvPr>
          <p:cNvSpPr txBox="1"/>
          <p:nvPr/>
        </p:nvSpPr>
        <p:spPr>
          <a:xfrm>
            <a:off x="6780452" y="2807290"/>
            <a:ext cx="174659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Intermediate Ciphertext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3D1871-B02A-2A51-6999-6BA95720C4B4}"/>
              </a:ext>
            </a:extLst>
          </p:cNvPr>
          <p:cNvSpPr txBox="1"/>
          <p:nvPr/>
        </p:nvSpPr>
        <p:spPr>
          <a:xfrm>
            <a:off x="4347630" y="3719418"/>
            <a:ext cx="1746598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Public Key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B5E189CA-2EB6-3EF9-D629-939E29764821}"/>
              </a:ext>
            </a:extLst>
          </p:cNvPr>
          <p:cNvSpPr/>
          <p:nvPr/>
        </p:nvSpPr>
        <p:spPr>
          <a:xfrm>
            <a:off x="6141462" y="3832822"/>
            <a:ext cx="1150884" cy="14252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F3412E-1C74-76A0-8532-E0AF279C1AB7}"/>
              </a:ext>
            </a:extLst>
          </p:cNvPr>
          <p:cNvSpPr txBox="1"/>
          <p:nvPr/>
        </p:nvSpPr>
        <p:spPr>
          <a:xfrm>
            <a:off x="7338269" y="3766312"/>
            <a:ext cx="367877" cy="3657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440E085E-43E9-6D6F-B1AB-F9CBB390EABA}"/>
              </a:ext>
            </a:extLst>
          </p:cNvPr>
          <p:cNvSpPr/>
          <p:nvPr/>
        </p:nvSpPr>
        <p:spPr>
          <a:xfrm rot="5400000" flipV="1">
            <a:off x="7443526" y="3588340"/>
            <a:ext cx="157364" cy="10479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F09FA000-2BE7-449F-8F24-767FEDA06A47}"/>
              </a:ext>
            </a:extLst>
          </p:cNvPr>
          <p:cNvSpPr/>
          <p:nvPr/>
        </p:nvSpPr>
        <p:spPr>
          <a:xfrm>
            <a:off x="7765546" y="3817126"/>
            <a:ext cx="761503" cy="15821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A1907E-8636-7A0F-14AD-2B4F4E75A811}"/>
              </a:ext>
            </a:extLst>
          </p:cNvPr>
          <p:cNvSpPr txBox="1"/>
          <p:nvPr/>
        </p:nvSpPr>
        <p:spPr>
          <a:xfrm>
            <a:off x="8586449" y="3573069"/>
            <a:ext cx="174659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Final Ciphertext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8AFEB75-FF05-0EC7-D7C8-FD07D37B728B}"/>
              </a:ext>
            </a:extLst>
          </p:cNvPr>
          <p:cNvGrpSpPr/>
          <p:nvPr/>
        </p:nvGrpSpPr>
        <p:grpSpPr>
          <a:xfrm>
            <a:off x="6187385" y="4444762"/>
            <a:ext cx="2028360" cy="2117627"/>
            <a:chOff x="6187385" y="4444762"/>
            <a:chExt cx="2028360" cy="2117627"/>
          </a:xfrm>
        </p:grpSpPr>
        <p:sp>
          <p:nvSpPr>
            <p:cNvPr id="31" name="Explosion 1 30">
              <a:extLst>
                <a:ext uri="{FF2B5EF4-FFF2-40B4-BE49-F238E27FC236}">
                  <a16:creationId xmlns:a16="http://schemas.microsoft.com/office/drawing/2014/main" id="{A2A41503-FE59-784A-97E2-B7DF11C6455C}"/>
                </a:ext>
              </a:extLst>
            </p:cNvPr>
            <p:cNvSpPr/>
            <p:nvPr/>
          </p:nvSpPr>
          <p:spPr>
            <a:xfrm>
              <a:off x="6187385" y="4444762"/>
              <a:ext cx="2028360" cy="2117627"/>
            </a:xfrm>
            <a:prstGeom prst="irregularSeal1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5FCF014-D730-3D54-7518-AF4C05B68B89}"/>
                </a:ext>
              </a:extLst>
            </p:cNvPr>
            <p:cNvSpPr txBox="1"/>
            <p:nvPr/>
          </p:nvSpPr>
          <p:spPr>
            <a:xfrm>
              <a:off x="6455824" y="4973045"/>
              <a:ext cx="133964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High Memory Overhead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88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27AD2-FD60-3452-935B-13DF70C44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FHE Operations – Modulus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EFAFC-BDE6-93CB-BB13-49435FC68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56912"/>
            <a:ext cx="10363200" cy="35463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Used to control proportion of noise in the ciphertext.</a:t>
            </a:r>
          </a:p>
          <a:p>
            <a:r>
              <a:rPr lang="en-US" dirty="0"/>
              <a:t>As simple as the name – modulus </a:t>
            </a:r>
            <a:r>
              <a:rPr lang="en-US" i="1" dirty="0"/>
              <a:t>Q</a:t>
            </a:r>
            <a:r>
              <a:rPr lang="en-US" dirty="0"/>
              <a:t> is reduced</a:t>
            </a:r>
          </a:p>
          <a:p>
            <a:r>
              <a:rPr lang="en-US" dirty="0"/>
              <a:t>L is multiplicative depth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Good for shallow computations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06715-B5D9-3839-36B6-6F895F7F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A641729-6672-BAEC-675B-C1B097575FC0}"/>
              </a:ext>
            </a:extLst>
          </p:cNvPr>
          <p:cNvGrpSpPr/>
          <p:nvPr/>
        </p:nvGrpSpPr>
        <p:grpSpPr>
          <a:xfrm>
            <a:off x="2483099" y="3182785"/>
            <a:ext cx="3257199" cy="1442598"/>
            <a:chOff x="1222336" y="3407847"/>
            <a:chExt cx="3257199" cy="144259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C43B31-5AF5-FDE0-7495-C2A00BAC548E}"/>
                </a:ext>
              </a:extLst>
            </p:cNvPr>
            <p:cNvSpPr txBox="1"/>
            <p:nvPr/>
          </p:nvSpPr>
          <p:spPr>
            <a:xfrm>
              <a:off x="1222336" y="3407847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</a:t>
              </a:r>
              <a:r>
                <a:rPr lang="en-US" baseline="-25000" dirty="0"/>
                <a:t>1</a:t>
              </a:r>
              <a:r>
                <a:rPr lang="en-US" dirty="0"/>
                <a:t> % q</a:t>
              </a:r>
              <a:r>
                <a:rPr lang="en-US" baseline="-25000" dirty="0"/>
                <a:t>0</a:t>
              </a:r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8CB2C6D-F1AA-BE0F-E734-688F6B2F144F}"/>
                </a:ext>
              </a:extLst>
            </p:cNvPr>
            <p:cNvSpPr txBox="1"/>
            <p:nvPr/>
          </p:nvSpPr>
          <p:spPr>
            <a:xfrm>
              <a:off x="1222336" y="3766927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</a:t>
              </a:r>
              <a:r>
                <a:rPr lang="en-US" baseline="-25000" dirty="0"/>
                <a:t>1</a:t>
              </a:r>
              <a:r>
                <a:rPr lang="en-US" dirty="0"/>
                <a:t> % q</a:t>
              </a:r>
              <a:r>
                <a:rPr lang="en-US" baseline="-25000" dirty="0"/>
                <a:t>1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98B8F4-5323-161C-F984-44E07625B6E3}"/>
                </a:ext>
              </a:extLst>
            </p:cNvPr>
            <p:cNvSpPr txBox="1"/>
            <p:nvPr/>
          </p:nvSpPr>
          <p:spPr>
            <a:xfrm>
              <a:off x="1222336" y="4131352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D86900-011B-23C2-A996-86388762ED82}"/>
                </a:ext>
              </a:extLst>
            </p:cNvPr>
            <p:cNvSpPr txBox="1"/>
            <p:nvPr/>
          </p:nvSpPr>
          <p:spPr>
            <a:xfrm>
              <a:off x="1222336" y="4481113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</a:t>
              </a:r>
              <a:r>
                <a:rPr lang="en-US" baseline="-25000" dirty="0"/>
                <a:t>1</a:t>
              </a:r>
              <a:r>
                <a:rPr lang="en-US" dirty="0"/>
                <a:t> % </a:t>
              </a:r>
              <a:r>
                <a:rPr lang="en-US" dirty="0" err="1"/>
                <a:t>q</a:t>
              </a:r>
              <a:r>
                <a:rPr lang="en-US" baseline="-25000" dirty="0" err="1"/>
                <a:t>L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73242E-B6A0-5E93-5862-48A9BA0EE460}"/>
                </a:ext>
              </a:extLst>
            </p:cNvPr>
            <p:cNvSpPr txBox="1"/>
            <p:nvPr/>
          </p:nvSpPr>
          <p:spPr>
            <a:xfrm>
              <a:off x="2308939" y="3407847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3559F5-A38C-A797-0C75-274ADD748EAC}"/>
                </a:ext>
              </a:extLst>
            </p:cNvPr>
            <p:cNvSpPr txBox="1"/>
            <p:nvPr/>
          </p:nvSpPr>
          <p:spPr>
            <a:xfrm>
              <a:off x="2308939" y="3766927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03C0C0-C694-FC3F-9754-1C5567ED6DFC}"/>
                </a:ext>
              </a:extLst>
            </p:cNvPr>
            <p:cNvSpPr txBox="1"/>
            <p:nvPr/>
          </p:nvSpPr>
          <p:spPr>
            <a:xfrm>
              <a:off x="2308939" y="4131352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8CDD99-3C98-3D88-FC9A-96B2AB8B9762}"/>
                </a:ext>
              </a:extLst>
            </p:cNvPr>
            <p:cNvSpPr txBox="1"/>
            <p:nvPr/>
          </p:nvSpPr>
          <p:spPr>
            <a:xfrm>
              <a:off x="2308939" y="4481113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8A57EA-B0A1-ADB7-6A4E-A44EC6EBFD02}"/>
                </a:ext>
              </a:extLst>
            </p:cNvPr>
            <p:cNvSpPr txBox="1"/>
            <p:nvPr/>
          </p:nvSpPr>
          <p:spPr>
            <a:xfrm>
              <a:off x="3395541" y="4481113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a</a:t>
              </a:r>
              <a:r>
                <a:rPr lang="en-US" baseline="-25000" dirty="0" err="1"/>
                <a:t>N</a:t>
              </a:r>
              <a:r>
                <a:rPr lang="en-US" dirty="0"/>
                <a:t> % </a:t>
              </a:r>
              <a:r>
                <a:rPr lang="en-US" dirty="0" err="1"/>
                <a:t>q</a:t>
              </a:r>
              <a:r>
                <a:rPr lang="en-US" baseline="-25000" dirty="0" err="1"/>
                <a:t>L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65FD56-8F4B-6899-E2A6-DA31DF23D353}"/>
                </a:ext>
              </a:extLst>
            </p:cNvPr>
            <p:cNvSpPr txBox="1"/>
            <p:nvPr/>
          </p:nvSpPr>
          <p:spPr>
            <a:xfrm>
              <a:off x="3395541" y="4131352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DDD2DAE-0A07-C351-860B-9495C9F1CCC0}"/>
                </a:ext>
              </a:extLst>
            </p:cNvPr>
            <p:cNvSpPr txBox="1"/>
            <p:nvPr/>
          </p:nvSpPr>
          <p:spPr>
            <a:xfrm>
              <a:off x="3395541" y="3766927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443E4B-0F0C-AEA0-E6D1-DFEA45E0F5C2}"/>
                </a:ext>
              </a:extLst>
            </p:cNvPr>
            <p:cNvSpPr txBox="1"/>
            <p:nvPr/>
          </p:nvSpPr>
          <p:spPr>
            <a:xfrm>
              <a:off x="3395541" y="3407847"/>
              <a:ext cx="1083994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a</a:t>
              </a:r>
              <a:r>
                <a:rPr lang="en-US" baseline="-25000" dirty="0" err="1"/>
                <a:t>N</a:t>
              </a:r>
              <a:r>
                <a:rPr lang="en-US" dirty="0"/>
                <a:t> % q</a:t>
              </a:r>
              <a:r>
                <a:rPr lang="en-US" baseline="-25000" dirty="0"/>
                <a:t>0</a:t>
              </a:r>
              <a:endParaRPr lang="en-US" dirty="0"/>
            </a:p>
          </p:txBody>
        </p:sp>
      </p:grpSp>
      <p:sp>
        <p:nvSpPr>
          <p:cNvPr id="17" name="Left Brace 16">
            <a:extLst>
              <a:ext uri="{FF2B5EF4-FFF2-40B4-BE49-F238E27FC236}">
                <a16:creationId xmlns:a16="http://schemas.microsoft.com/office/drawing/2014/main" id="{71DF0807-72E8-A28E-7E79-DB3FAB71FDAC}"/>
              </a:ext>
            </a:extLst>
          </p:cNvPr>
          <p:cNvSpPr/>
          <p:nvPr/>
        </p:nvSpPr>
        <p:spPr>
          <a:xfrm>
            <a:off x="2217594" y="3076444"/>
            <a:ext cx="314138" cy="16635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B37C66-9B42-7C6D-7D5C-90D0370B19BB}"/>
              </a:ext>
            </a:extLst>
          </p:cNvPr>
          <p:cNvSpPr txBox="1"/>
          <p:nvPr/>
        </p:nvSpPr>
        <p:spPr>
          <a:xfrm>
            <a:off x="1142398" y="3333588"/>
            <a:ext cx="161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 + 1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AE48AF5-9A2D-FB6F-54C9-DC9DA4E8BB50}"/>
              </a:ext>
            </a:extLst>
          </p:cNvPr>
          <p:cNvSpPr/>
          <p:nvPr/>
        </p:nvSpPr>
        <p:spPr>
          <a:xfrm>
            <a:off x="2374663" y="4256051"/>
            <a:ext cx="3471955" cy="456758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AE1617-F5A0-5BE1-8A19-144CD76FFEE7}"/>
              </a:ext>
            </a:extLst>
          </p:cNvPr>
          <p:cNvSpPr txBox="1"/>
          <p:nvPr/>
        </p:nvSpPr>
        <p:spPr>
          <a:xfrm>
            <a:off x="5849226" y="4161264"/>
            <a:ext cx="3471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last row is discarded after every multiplication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FBFDF4-0B5F-6E8D-A9E1-F8DEBB4EC6A5}"/>
              </a:ext>
            </a:extLst>
          </p:cNvPr>
          <p:cNvSpPr txBox="1"/>
          <p:nvPr/>
        </p:nvSpPr>
        <p:spPr>
          <a:xfrm>
            <a:off x="3281573" y="5509614"/>
            <a:ext cx="5625310" cy="510778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How to handle deeper computations?</a:t>
            </a:r>
          </a:p>
        </p:txBody>
      </p:sp>
    </p:spTree>
    <p:extLst>
      <p:ext uri="{BB962C8B-B14F-4D97-AF65-F5344CB8AC3E}">
        <p14:creationId xmlns:p14="http://schemas.microsoft.com/office/powerpoint/2010/main" val="290243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9308-7929-6DCF-A876-45F2A2CD0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FHE operations - Bootstrapping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F47B-46AD-137E-5B13-DCD474B1E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56912"/>
            <a:ext cx="10363200" cy="3975852"/>
          </a:xfrm>
        </p:spPr>
        <p:txBody>
          <a:bodyPr>
            <a:normAutofit/>
          </a:bodyPr>
          <a:lstStyle/>
          <a:p>
            <a:r>
              <a:rPr lang="en-US" dirty="0"/>
              <a:t>Refreshing ciphertext to enable unlimited computation – recover multiplicative depth</a:t>
            </a:r>
          </a:p>
          <a:p>
            <a:r>
              <a:rPr lang="en-US" dirty="0"/>
              <a:t>Bootstrapping consists of :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Modulus switching – this time extend modulus </a:t>
            </a:r>
            <a:r>
              <a:rPr lang="en-US" i="1" dirty="0"/>
              <a:t>Q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Linear operations – Homomorphic evaluation of DFT on encrypted data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Non-linear operations – Polynomial approximation followed by an exponentiation</a:t>
            </a:r>
          </a:p>
          <a:p>
            <a:r>
              <a:rPr lang="en-US" dirty="0"/>
              <a:t>Most of the time is spent multiplication and rotation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Needs evaluation key for every multiplication and rotation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Reuse of this key is very low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Size of key is huge – multiple keys cannot fit on-chip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905F3-1D06-4607-BB94-629A7D79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D5FB7E-CC07-2BCF-EE4E-70336E4FAF21}"/>
              </a:ext>
            </a:extLst>
          </p:cNvPr>
          <p:cNvGrpSpPr/>
          <p:nvPr/>
        </p:nvGrpSpPr>
        <p:grpSpPr>
          <a:xfrm>
            <a:off x="6921676" y="4444763"/>
            <a:ext cx="2028360" cy="2117627"/>
            <a:chOff x="6187385" y="4444762"/>
            <a:chExt cx="2028360" cy="2117627"/>
          </a:xfrm>
        </p:grpSpPr>
        <p:sp>
          <p:nvSpPr>
            <p:cNvPr id="6" name="Explosion 1 5">
              <a:extLst>
                <a:ext uri="{FF2B5EF4-FFF2-40B4-BE49-F238E27FC236}">
                  <a16:creationId xmlns:a16="http://schemas.microsoft.com/office/drawing/2014/main" id="{FF799DCC-DB97-D675-BB25-4E19D029E46F}"/>
                </a:ext>
              </a:extLst>
            </p:cNvPr>
            <p:cNvSpPr/>
            <p:nvPr/>
          </p:nvSpPr>
          <p:spPr>
            <a:xfrm>
              <a:off x="6187385" y="4444762"/>
              <a:ext cx="2028360" cy="2117627"/>
            </a:xfrm>
            <a:prstGeom prst="irregularSeal1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DE825F-FAF2-D50A-8061-85789FB0D2D8}"/>
                </a:ext>
              </a:extLst>
            </p:cNvPr>
            <p:cNvSpPr txBox="1"/>
            <p:nvPr/>
          </p:nvSpPr>
          <p:spPr>
            <a:xfrm>
              <a:off x="6455824" y="4973045"/>
              <a:ext cx="133964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High Memory Overhead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348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AE8BD-1421-7EB2-B561-A478DF2F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Homomorphic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C1445-E0F2-36CB-6C14-3D71874DF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computation on encrypted data.</a:t>
            </a:r>
          </a:p>
          <a:p>
            <a:r>
              <a:rPr lang="en-US" dirty="0"/>
              <a:t>Very secure against mathematical cryptanalysis.</a:t>
            </a:r>
          </a:p>
          <a:p>
            <a:r>
              <a:rPr lang="en-US" dirty="0"/>
              <a:t>Adds noise to ciphertext generation.</a:t>
            </a:r>
          </a:p>
          <a:p>
            <a:r>
              <a:rPr lang="en-US" dirty="0"/>
              <a:t>Bootstrapping was introduced to control noise.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E01BF-5E57-B253-06CA-8DE67842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35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DE6D-43DB-534D-BDEF-89A46D48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E068-B2D0-694B-9AA2-9CB739C55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628" y="1990727"/>
            <a:ext cx="10363200" cy="3088460"/>
          </a:xfrm>
        </p:spPr>
        <p:txBody>
          <a:bodyPr/>
          <a:lstStyle/>
          <a:p>
            <a:r>
              <a:rPr lang="en-US" dirty="0"/>
              <a:t>Risk of Outsourced Computation </a:t>
            </a:r>
          </a:p>
          <a:p>
            <a:r>
              <a:rPr lang="en-US" dirty="0"/>
              <a:t>Fully Homomorphic Encryption</a:t>
            </a:r>
          </a:p>
          <a:p>
            <a:r>
              <a:rPr lang="en-US" dirty="0"/>
              <a:t>Challenges in designing FHE systems</a:t>
            </a:r>
          </a:p>
          <a:p>
            <a:r>
              <a:rPr lang="en-US" dirty="0"/>
              <a:t>Privacy pitfalls in FHE systems</a:t>
            </a:r>
          </a:p>
          <a:p>
            <a:r>
              <a:rPr lang="en-US" dirty="0"/>
              <a:t>Experimental Setup and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2B9CC-2A2D-F043-A59C-95EB98AE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91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1EE9-E1D3-CC54-8AF2-77678A7D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FHE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66710-434B-1F5B-CC9C-32F939C4B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56911"/>
            <a:ext cx="10363200" cy="3865015"/>
          </a:xfrm>
        </p:spPr>
        <p:txBody>
          <a:bodyPr/>
          <a:lstStyle/>
          <a:p>
            <a:r>
              <a:rPr lang="en-US" dirty="0"/>
              <a:t>All primitive homomorphic operations rely on big polynomial arithmetic - which is complex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Ciphertext maintenance operations such as key-switching and bootstrapping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Many computations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Limited by on-chip memory resources or off-chip memory bandwidth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Consumes &gt;80% of execution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FAF80-8284-65E3-8232-DBCB8A71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80F3B-A99E-D522-81FB-4A7B72FCB37B}"/>
              </a:ext>
            </a:extLst>
          </p:cNvPr>
          <p:cNvSpPr txBox="1"/>
          <p:nvPr/>
        </p:nvSpPr>
        <p:spPr>
          <a:xfrm>
            <a:off x="4195178" y="2655574"/>
            <a:ext cx="3798100" cy="510778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How to accelerate NTT?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6F856-5520-C55B-9766-C7A908DA96FB}"/>
              </a:ext>
            </a:extLst>
          </p:cNvPr>
          <p:cNvSpPr txBox="1"/>
          <p:nvPr/>
        </p:nvSpPr>
        <p:spPr>
          <a:xfrm>
            <a:off x="2201100" y="5173991"/>
            <a:ext cx="7786255" cy="510778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How to accelerate ciphertext maintenance operations?</a:t>
            </a:r>
          </a:p>
        </p:txBody>
      </p:sp>
    </p:spTree>
    <p:extLst>
      <p:ext uri="{BB962C8B-B14F-4D97-AF65-F5344CB8AC3E}">
        <p14:creationId xmlns:p14="http://schemas.microsoft.com/office/powerpoint/2010/main" val="217114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8C8F-852B-9175-2AF8-0AC04381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Accelerating NTT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5C1BC-AEE9-3E72-D154-387649A92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610054"/>
            <a:ext cx="4017818" cy="4449952"/>
          </a:xfrm>
        </p:spPr>
        <p:txBody>
          <a:bodyPr/>
          <a:lstStyle/>
          <a:p>
            <a:r>
              <a:rPr lang="en-US" dirty="0"/>
              <a:t>High Computation Complexity</a:t>
            </a:r>
          </a:p>
          <a:p>
            <a:endParaRPr lang="en-US" dirty="0"/>
          </a:p>
          <a:p>
            <a:r>
              <a:rPr lang="en-US" dirty="0"/>
              <a:t>Intensive Memory Access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Limited generality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58677-ECC7-6E74-A275-C5FED38CE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10053"/>
            <a:ext cx="5105400" cy="4449953"/>
          </a:xfrm>
        </p:spPr>
        <p:txBody>
          <a:bodyPr/>
          <a:lstStyle/>
          <a:p>
            <a:r>
              <a:rPr lang="en-US" dirty="0"/>
              <a:t>Execute multiple polynomials concurrently</a:t>
            </a:r>
          </a:p>
          <a:p>
            <a:endParaRPr lang="en-US" dirty="0"/>
          </a:p>
          <a:p>
            <a:r>
              <a:rPr lang="en-US" dirty="0"/>
              <a:t>Use HBM or SRAM </a:t>
            </a:r>
          </a:p>
          <a:p>
            <a:r>
              <a:rPr lang="en-US" dirty="0"/>
              <a:t>Generate  some parameters on the fly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Hardware software co-design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1761A-ED7A-B7CC-0190-987371725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21</a:t>
            </a:fld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B3A415A4-AC79-B45D-0902-999243A392C3}"/>
              </a:ext>
            </a:extLst>
          </p:cNvPr>
          <p:cNvSpPr/>
          <p:nvPr/>
        </p:nvSpPr>
        <p:spPr>
          <a:xfrm>
            <a:off x="5029201" y="1610053"/>
            <a:ext cx="848590" cy="429491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CA100E3-0029-7673-3771-AE794D74E4AE}"/>
              </a:ext>
            </a:extLst>
          </p:cNvPr>
          <p:cNvSpPr/>
          <p:nvPr/>
        </p:nvSpPr>
        <p:spPr>
          <a:xfrm>
            <a:off x="5029201" y="2593726"/>
            <a:ext cx="848590" cy="429491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E590570-2263-0AE4-218F-26C8C8E5BDFE}"/>
              </a:ext>
            </a:extLst>
          </p:cNvPr>
          <p:cNvSpPr/>
          <p:nvPr/>
        </p:nvSpPr>
        <p:spPr>
          <a:xfrm>
            <a:off x="5029201" y="4160393"/>
            <a:ext cx="848590" cy="429491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5AC6-0AC2-5BE4-A373-D4C2504D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Accelerating Key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60346-CA6A-0470-3588-569B55172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56911"/>
            <a:ext cx="10363200" cy="3754179"/>
          </a:xfrm>
        </p:spPr>
        <p:txBody>
          <a:bodyPr/>
          <a:lstStyle/>
          <a:p>
            <a:r>
              <a:rPr lang="en-US" dirty="0"/>
              <a:t>Key switching consists of both fast basis conversion (</a:t>
            </a:r>
            <a:r>
              <a:rPr lang="en-US" dirty="0" err="1"/>
              <a:t>mult</a:t>
            </a:r>
            <a:r>
              <a:rPr lang="en-US" dirty="0"/>
              <a:t> and add) and NTT</a:t>
            </a:r>
          </a:p>
          <a:p>
            <a:r>
              <a:rPr lang="en-US" dirty="0"/>
              <a:t>Residue polynomial level parallelism is achieved by distributing multiple residue polynomials to different processors – better for fast basis</a:t>
            </a:r>
          </a:p>
          <a:p>
            <a:r>
              <a:rPr lang="en-US" dirty="0"/>
              <a:t>Coefficient level parallelism – multiple processors collaboratively execute operations for single residue polynomial – better for NTT</a:t>
            </a:r>
          </a:p>
          <a:p>
            <a:endParaRPr lang="en-US" dirty="0"/>
          </a:p>
          <a:p>
            <a:r>
              <a:rPr lang="en-US" dirty="0"/>
              <a:t>Cannot be generalized. We need further application characterization to determine which one to choose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82E8A-8BF2-3D0F-0B04-1EF11E79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E9A3A-3A32-2671-FA66-A4B190AA3F63}"/>
              </a:ext>
            </a:extLst>
          </p:cNvPr>
          <p:cNvSpPr txBox="1"/>
          <p:nvPr/>
        </p:nvSpPr>
        <p:spPr>
          <a:xfrm>
            <a:off x="4015069" y="3999465"/>
            <a:ext cx="3798100" cy="510778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Which one is better?</a:t>
            </a:r>
          </a:p>
        </p:txBody>
      </p:sp>
    </p:spTree>
    <p:extLst>
      <p:ext uri="{BB962C8B-B14F-4D97-AF65-F5344CB8AC3E}">
        <p14:creationId xmlns:p14="http://schemas.microsoft.com/office/powerpoint/2010/main" val="413163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9A80E-A654-125D-27DA-3216D1C0C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Accelerating Bootstrapping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F47C-3CF7-CE85-E5A9-E15120E5F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consumes a high percentage of multiplicative depth L which lead to a increase in size of modulus and degree of polynomial</a:t>
            </a:r>
          </a:p>
          <a:p>
            <a:r>
              <a:rPr lang="en-US" dirty="0"/>
              <a:t>Consequently increasing the size of ciphertext and keys</a:t>
            </a:r>
          </a:p>
          <a:p>
            <a:r>
              <a:rPr lang="en-US" dirty="0"/>
              <a:t>High computational overhead in homomorphic rotations</a:t>
            </a:r>
          </a:p>
          <a:p>
            <a:r>
              <a:rPr lang="en-US" dirty="0"/>
              <a:t>Prior work</a:t>
            </a:r>
            <a:r>
              <a:rPr lang="en-US" baseline="30000" dirty="0"/>
              <a:t>[3]</a:t>
            </a:r>
            <a:r>
              <a:rPr lang="en-US" dirty="0"/>
              <a:t> proposed specialized units to tweak parameters</a:t>
            </a:r>
          </a:p>
          <a:p>
            <a:r>
              <a:rPr lang="en-US" dirty="0"/>
              <a:t>Employ coefficient level parallelism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FA695-8FC7-B006-8D15-CA4752D3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9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CBCB-FF9A-DD1D-CA77-C2E6EE3D4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FHE techniques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3B16AEC-602D-E1DA-C59E-32D5E2A2242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76370307"/>
              </p:ext>
            </p:extLst>
          </p:nvPr>
        </p:nvGraphicFramePr>
        <p:xfrm>
          <a:off x="1299670" y="1321315"/>
          <a:ext cx="9589116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7279">
                  <a:extLst>
                    <a:ext uri="{9D8B030D-6E8A-4147-A177-3AD203B41FA5}">
                      <a16:colId xmlns:a16="http://schemas.microsoft.com/office/drawing/2014/main" val="2976491404"/>
                    </a:ext>
                  </a:extLst>
                </a:gridCol>
                <a:gridCol w="2397279">
                  <a:extLst>
                    <a:ext uri="{9D8B030D-6E8A-4147-A177-3AD203B41FA5}">
                      <a16:colId xmlns:a16="http://schemas.microsoft.com/office/drawing/2014/main" val="3335610974"/>
                    </a:ext>
                  </a:extLst>
                </a:gridCol>
                <a:gridCol w="2397279">
                  <a:extLst>
                    <a:ext uri="{9D8B030D-6E8A-4147-A177-3AD203B41FA5}">
                      <a16:colId xmlns:a16="http://schemas.microsoft.com/office/drawing/2014/main" val="3440084761"/>
                    </a:ext>
                  </a:extLst>
                </a:gridCol>
                <a:gridCol w="2397279">
                  <a:extLst>
                    <a:ext uri="{9D8B030D-6E8A-4147-A177-3AD203B41FA5}">
                      <a16:colId xmlns:a16="http://schemas.microsoft.com/office/drawing/2014/main" val="2389639382"/>
                    </a:ext>
                  </a:extLst>
                </a:gridCol>
              </a:tblGrid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Type of FHE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Bootstrappable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47322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Palatino Linotype" panose="02040502050505030304" pitchFamily="18" charset="0"/>
                        </a:rPr>
                        <a:t>cuHE,cuFHE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TFHE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702665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Palatino Linotype" panose="02040502050505030304" pitchFamily="18" charset="0"/>
                        </a:rPr>
                        <a:t>nuFHE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TFHE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991168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HEAT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TFHE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368658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HEAX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BFV,BGV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╳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620493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HEXL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╳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936287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HEXL-FPGA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 BGV, 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╳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349916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100X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 BGV, 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756263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Cheetah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BFV,BGV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╳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209872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 BGV, 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601994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Palatino Linotype" panose="02040502050505030304" pitchFamily="18" charset="0"/>
                        </a:rPr>
                        <a:t>CraterLake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 BGV, 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79731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 BGV, 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✓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819918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 BGV, 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✓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945088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Poseidon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 BGV, 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✓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440248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FAB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 BGV, 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✓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785183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Palatino Linotype" panose="02040502050505030304" pitchFamily="18" charset="0"/>
                        </a:rPr>
                        <a:t>TensorFHE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 BGV, 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✓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242407"/>
                  </a:ext>
                </a:extLst>
              </a:tr>
              <a:tr h="25804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MAD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Agnostic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Palatino Linotype" panose="02040502050505030304" pitchFamily="18" charset="0"/>
                        </a:rPr>
                        <a:t>BFV, BGV, CKKS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✓</a:t>
                      </a:r>
                      <a:endParaRPr lang="en-US" sz="1400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96422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458C7-951F-8549-949E-351B4A6B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520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03A8F-6AED-5129-689E-1B53B170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2947C-070F-D69C-2CC9-C0868AC22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compute and memory continue to be a bottleneck for FHE-encrypted applications</a:t>
            </a:r>
          </a:p>
          <a:p>
            <a:r>
              <a:rPr lang="en-US" dirty="0"/>
              <a:t>Application driven design approaches can benefit some specific applications immensely, like ML inference</a:t>
            </a:r>
          </a:p>
          <a:p>
            <a:r>
              <a:rPr lang="en-US" dirty="0"/>
              <a:t>Support for both word-wise and bit-wise FHE schemes</a:t>
            </a:r>
          </a:p>
          <a:p>
            <a:r>
              <a:rPr lang="en-US" dirty="0"/>
              <a:t>Enhanced hardware software co-design, use of better compilers</a:t>
            </a:r>
          </a:p>
          <a:p>
            <a:r>
              <a:rPr lang="en-US" dirty="0"/>
              <a:t>Connecting multiple FHE accelerators and enabling network co-design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0311C-2B52-0407-4667-ECDFD1AF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89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8DE6D-43DB-534D-BDEF-89A46D48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E068-B2D0-694B-9AA2-9CB739C55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628" y="1990727"/>
            <a:ext cx="10363200" cy="3088460"/>
          </a:xfrm>
        </p:spPr>
        <p:txBody>
          <a:bodyPr/>
          <a:lstStyle/>
          <a:p>
            <a:r>
              <a:rPr lang="en-US" dirty="0"/>
              <a:t>Risk of Outsourced Computation </a:t>
            </a:r>
          </a:p>
          <a:p>
            <a:r>
              <a:rPr lang="en-US" dirty="0"/>
              <a:t>Fully Homomorphic Encryption</a:t>
            </a:r>
          </a:p>
          <a:p>
            <a:r>
              <a:rPr lang="en-US" dirty="0"/>
              <a:t>Challenges in designing FHE systems</a:t>
            </a:r>
          </a:p>
          <a:p>
            <a:r>
              <a:rPr lang="en-US" dirty="0"/>
              <a:t>Privacy pitfalls in FHE systems</a:t>
            </a:r>
          </a:p>
          <a:p>
            <a:r>
              <a:rPr lang="en-US" dirty="0"/>
              <a:t>Experimental Setup and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2B9CC-2A2D-F043-A59C-95EB98AE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66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53972-636A-5DBC-375F-4C454F30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FB962-38B3-C34D-1912-61C42D80F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56912"/>
            <a:ext cx="4807528" cy="38788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FHE is airtight</a:t>
            </a:r>
          </a:p>
          <a:p>
            <a:r>
              <a:rPr lang="en-US" dirty="0"/>
              <a:t>Are there any possible side channels?</a:t>
            </a:r>
          </a:p>
          <a:p>
            <a:r>
              <a:rPr lang="en-US" dirty="0"/>
              <a:t>Prior work targets SEAL’s Gaussian sampling operation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Branch operations (line 13)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Non-uniform value assignment (line 12)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Negation operation for negative sampled value (line 20)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Reduces plaintext encryption security level from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AB971-0F26-89DB-5FB6-D146996F2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9F5B2-DBC9-AD64-9D64-E4EF7C1F2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075" y="1319108"/>
            <a:ext cx="4447307" cy="472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2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2F500-C916-8D44-9C19-BCE6AFCC1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0618" y="1371600"/>
            <a:ext cx="7756658" cy="2933952"/>
          </a:xfrm>
        </p:spPr>
        <p:txBody>
          <a:bodyPr anchor="t"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Characterizing memory side channels </a:t>
            </a:r>
            <a:r>
              <a:rPr lang="en-US" sz="4800" dirty="0">
                <a:solidFill>
                  <a:srgbClr val="FFFFFF"/>
                </a:solidFill>
                <a:latin typeface="Palatino Linotype" panose="02040502050505030304" pitchFamily="18" charset="0"/>
              </a:rPr>
              <a:t>in FHE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E2DF1-0692-A646-82F4-1E9224279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7019" y="4539112"/>
            <a:ext cx="9890258" cy="1287887"/>
          </a:xfrm>
        </p:spPr>
        <p:txBody>
          <a:bodyPr anchor="b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cs typeface="Times New Roman" panose="02020603050405020304" pitchFamily="18" charset="0"/>
              </a:rPr>
              <a:t>In Collaboration with : </a:t>
            </a:r>
            <a:r>
              <a:rPr lang="en-US" sz="1300" dirty="0" err="1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cs typeface="Times New Roman" panose="02020603050405020304" pitchFamily="18" charset="0"/>
              </a:rPr>
              <a:t>KarthiK</a:t>
            </a:r>
            <a:r>
              <a:rPr lang="en-US" sz="13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cs typeface="Times New Roman" panose="02020603050405020304" pitchFamily="18" charset="0"/>
              </a:rPr>
              <a:t> V Swaminathan AND SUBHANKAR PAL</a:t>
            </a:r>
          </a:p>
          <a:p>
            <a:pPr algn="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cs typeface="Times New Roman" panose="02020603050405020304" pitchFamily="18" charset="0"/>
              </a:rPr>
              <a:t>IBM Research </a:t>
            </a:r>
            <a:r>
              <a:rPr lang="en-US" sz="1300" b="1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Palatino Linotype" panose="0204050205050503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30CDD-F8B4-AE46-A4B5-209E64838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1076ED0-0DB3-4879-AAE5-5C20D22C1DF4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DB53F68C-6C60-4B47-92C2-8AC991318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896" y="-1066"/>
            <a:ext cx="2054958" cy="69243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70490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7894-4896-DF44-811F-4302E4C9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Access Patterns as Side 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826E3-C9D5-2D47-955A-265963773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56911"/>
            <a:ext cx="10363200" cy="4341203"/>
          </a:xfrm>
        </p:spPr>
        <p:txBody>
          <a:bodyPr>
            <a:normAutofit/>
          </a:bodyPr>
          <a:lstStyle/>
          <a:p>
            <a:r>
              <a:rPr lang="en-US" dirty="0"/>
              <a:t>Use case : Database query Application</a:t>
            </a:r>
          </a:p>
          <a:p>
            <a:r>
              <a:rPr lang="en-US" dirty="0"/>
              <a:t>Server knows memory layout of database.</a:t>
            </a:r>
          </a:p>
          <a:p>
            <a:r>
              <a:rPr lang="en-US" dirty="0" err="1"/>
              <a:t>Analyse</a:t>
            </a:r>
            <a:r>
              <a:rPr lang="en-US" dirty="0"/>
              <a:t> memory traces from operations on encrypted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Detect any obvious patterns unique to each query.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18936-0C64-5F42-A9EF-AC3B9E53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38452-C675-FF42-8641-2A0510E39AE6}"/>
              </a:ext>
            </a:extLst>
          </p:cNvPr>
          <p:cNvSpPr txBox="1"/>
          <p:nvPr/>
        </p:nvSpPr>
        <p:spPr>
          <a:xfrm>
            <a:off x="1991031" y="3404918"/>
            <a:ext cx="9011265" cy="51077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Palatino Linotype" panose="02040502050505030304" pitchFamily="18" charset="0"/>
              </a:rPr>
              <a:t>Can we recover secret key from FHE encrypted memory traces?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3F79FD-61B1-D941-B87E-1A24BCA7B588}"/>
              </a:ext>
            </a:extLst>
          </p:cNvPr>
          <p:cNvSpPr txBox="1"/>
          <p:nvPr/>
        </p:nvSpPr>
        <p:spPr>
          <a:xfrm>
            <a:off x="3267604" y="4448017"/>
            <a:ext cx="5653247" cy="51077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4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alatino Linotype" panose="02040502050505030304" pitchFamily="18" charset="0"/>
              </a:rPr>
              <a:t>No. But what else can the attacker do?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08677960-7B15-DD44-9DAD-77017B616351}"/>
              </a:ext>
            </a:extLst>
          </p:cNvPr>
          <p:cNvSpPr/>
          <p:nvPr/>
        </p:nvSpPr>
        <p:spPr>
          <a:xfrm rot="5400000">
            <a:off x="5850657" y="4009066"/>
            <a:ext cx="510778" cy="32403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940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A907B-474C-3F4B-A723-1EFD9B9F1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Notion of Trace Distinguishability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D2876-AE2F-8C42-B9FD-E9BBF61AB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856911"/>
            <a:ext cx="10363200" cy="4341203"/>
          </a:xfrm>
        </p:spPr>
        <p:txBody>
          <a:bodyPr>
            <a:normAutofit/>
          </a:bodyPr>
          <a:lstStyle/>
          <a:p>
            <a:r>
              <a:rPr lang="en-US" dirty="0"/>
              <a:t>Can adversary distinguish between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Unique queries from the database – i.e., query(Q1) != query(Q2)?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For example, query : capital of (Spain) vs capital of (Mexico)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Queries found in the database vs queries non-existent in database?</a:t>
            </a:r>
          </a:p>
          <a:p>
            <a:r>
              <a:rPr lang="en-US" dirty="0"/>
              <a:t>Distinguishing patterns act as side-channel information to the actual query.</a:t>
            </a:r>
          </a:p>
          <a:p>
            <a:r>
              <a:rPr lang="en-US" dirty="0"/>
              <a:t>We use ML-based classifiers as the adversary.</a:t>
            </a:r>
          </a:p>
          <a:p>
            <a:r>
              <a:rPr lang="en-US" dirty="0"/>
              <a:t>Adversary trains on probing with synthetic queries and then distinguishes actual user query.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D1CDB-EB3A-CB46-9627-754768213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30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96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7ACB-FF04-C54D-8364-F07CE769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 - Trace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1DF13-D1FB-E741-BD83-62497C29D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93" y="1610053"/>
            <a:ext cx="11135032" cy="4259805"/>
          </a:xfrm>
        </p:spPr>
        <p:txBody>
          <a:bodyPr>
            <a:normAutofit/>
          </a:bodyPr>
          <a:lstStyle/>
          <a:p>
            <a:r>
              <a:rPr lang="en-US" dirty="0" err="1"/>
              <a:t>HELib</a:t>
            </a:r>
            <a:r>
              <a:rPr lang="en-US" dirty="0"/>
              <a:t> framework with BGV FHE scheme enabled.</a:t>
            </a:r>
          </a:p>
          <a:p>
            <a:r>
              <a:rPr lang="en-US" dirty="0"/>
              <a:t>Trace Structure : {Program Counter, Is Branch, Branch Taken, Destination Register, Source Register, Destination Memory, Source Memory}</a:t>
            </a:r>
          </a:p>
          <a:p>
            <a:r>
              <a:rPr lang="en-US" dirty="0"/>
              <a:t>We look at destination and source memory addresses only.</a:t>
            </a:r>
          </a:p>
          <a:p>
            <a:r>
              <a:rPr lang="en-US" dirty="0"/>
              <a:t>Traces collected using </a:t>
            </a:r>
            <a:r>
              <a:rPr lang="en-US" dirty="0" err="1"/>
              <a:t>PINtool</a:t>
            </a:r>
            <a:r>
              <a:rPr lang="en-US" dirty="0"/>
              <a:t>, hence only virtual addresses are considered.</a:t>
            </a:r>
          </a:p>
          <a:p>
            <a:r>
              <a:rPr lang="en-US" dirty="0"/>
              <a:t>Spatial spread is assessed by clustering addresses at a block level granularity.</a:t>
            </a:r>
          </a:p>
          <a:p>
            <a:r>
              <a:rPr lang="en-US" dirty="0"/>
              <a:t>Three regions of memory detected with &gt;60% accesses for one region.</a:t>
            </a:r>
          </a:p>
          <a:p>
            <a:r>
              <a:rPr lang="en-US" dirty="0"/>
              <a:t>Temporal distribution is generated for majority spatial region.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8C05B-65DD-644D-8E73-7F0D7E3D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26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F2B8E-A63B-7E49-8A77-02164884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Flamegraph</a:t>
            </a:r>
            <a:r>
              <a:rPr lang="en-US" dirty="0"/>
              <a:t> of database search</a:t>
            </a:r>
          </a:p>
        </p:txBody>
      </p:sp>
      <p:sp>
        <p:nvSpPr>
          <p:cNvPr id="44" name="Content Placeholder 43">
            <a:extLst>
              <a:ext uri="{FF2B5EF4-FFF2-40B4-BE49-F238E27FC236}">
                <a16:creationId xmlns:a16="http://schemas.microsoft.com/office/drawing/2014/main" id="{91A237F1-59FD-D72C-602D-08F9D6B61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911917"/>
            <a:ext cx="4041058" cy="4148089"/>
          </a:xfrm>
        </p:spPr>
        <p:txBody>
          <a:bodyPr/>
          <a:lstStyle/>
          <a:p>
            <a:r>
              <a:rPr lang="en-US" dirty="0" err="1"/>
              <a:t>Flamegraph</a:t>
            </a:r>
            <a:r>
              <a:rPr lang="en-US" dirty="0"/>
              <a:t> data obtained by attaching perf to the search.</a:t>
            </a:r>
          </a:p>
          <a:p>
            <a:r>
              <a:rPr lang="en-US" dirty="0" err="1"/>
              <a:t>Flamegraph</a:t>
            </a:r>
            <a:r>
              <a:rPr lang="en-US" dirty="0"/>
              <a:t> obtained for multiple queries.</a:t>
            </a:r>
          </a:p>
          <a:p>
            <a:r>
              <a:rPr lang="en-US" dirty="0"/>
              <a:t>Maximum time is spent in power, rotate and product operations.</a:t>
            </a:r>
          </a:p>
          <a:p>
            <a:endParaRPr lang="en-US" dirty="0"/>
          </a:p>
        </p:txBody>
      </p:sp>
      <p:pic>
        <p:nvPicPr>
          <p:cNvPr id="45" name="Content Placeholder 41">
            <a:extLst>
              <a:ext uri="{FF2B5EF4-FFF2-40B4-BE49-F238E27FC236}">
                <a16:creationId xmlns:a16="http://schemas.microsoft.com/office/drawing/2014/main" id="{7BDA247F-9E5B-3C50-64A7-7928D7E05E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350917" y="1911917"/>
            <a:ext cx="6413380" cy="319398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DE3DE-7A9D-334C-9CEF-1579A829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497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E527E-2732-DDE3-CD47-BF395D6CF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</a:t>
            </a:r>
            <a:r>
              <a:rPr lang="en-US" dirty="0" err="1"/>
              <a:t>Flamegraphs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B2690A-0A70-C688-C4EA-D327D241B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0871" y="1351982"/>
            <a:ext cx="5651090" cy="282181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74B9C-9C56-707D-0316-3BA43CF4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0A643D-D1F5-9537-2F66-1E4169469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305" y="1351982"/>
            <a:ext cx="5666079" cy="28218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287F11-1629-9D4F-A33D-BDB25D25F83B}"/>
              </a:ext>
            </a:extLst>
          </p:cNvPr>
          <p:cNvSpPr txBox="1"/>
          <p:nvPr/>
        </p:nvSpPr>
        <p:spPr>
          <a:xfrm>
            <a:off x="1237991" y="4163508"/>
            <a:ext cx="3996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Query not in DB - Mexico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53C70D-C675-2B95-0103-7A0702EEBCBD}"/>
              </a:ext>
            </a:extLst>
          </p:cNvPr>
          <p:cNvSpPr txBox="1"/>
          <p:nvPr/>
        </p:nvSpPr>
        <p:spPr>
          <a:xfrm>
            <a:off x="7447900" y="4163509"/>
            <a:ext cx="3347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Query in DB - Estonia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DC66FA-6F25-8028-07EC-C5E0683DFC7B}"/>
              </a:ext>
            </a:extLst>
          </p:cNvPr>
          <p:cNvSpPr txBox="1"/>
          <p:nvPr/>
        </p:nvSpPr>
        <p:spPr>
          <a:xfrm>
            <a:off x="912628" y="4955122"/>
            <a:ext cx="98831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Time spent in each operation is  similar.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Palatino Linotype" panose="02040502050505030304" pitchFamily="18" charset="0"/>
              </a:rPr>
              <a:t>Hence different mode of vulnerability, aka, memory access patterns.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872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8189C-7B35-AC4F-A3B9-ED4F0DB9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of memory access patterns - AES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3D455-55E8-9740-9968-1C5D5F9C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" name="Picture 14">
            <a:extLst>
              <a:ext uri="{FF2B5EF4-FFF2-40B4-BE49-F238E27FC236}">
                <a16:creationId xmlns:a16="http://schemas.microsoft.com/office/drawing/2014/main" id="{5601A6E9-A448-9D41-95CE-4000C5F58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63" y="1838851"/>
            <a:ext cx="1984210" cy="283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E72262-D944-FC42-888B-D7C2AA2822C2}"/>
              </a:ext>
            </a:extLst>
          </p:cNvPr>
          <p:cNvSpPr txBox="1"/>
          <p:nvPr/>
        </p:nvSpPr>
        <p:spPr>
          <a:xfrm>
            <a:off x="492256" y="4172756"/>
            <a:ext cx="1984192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spcBef>
                <a:spcPts val="0"/>
              </a:spcBef>
              <a:spcAft>
                <a:spcPts val="0"/>
              </a:spcAft>
              <a:defRPr sz="16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>
                <a:latin typeface="Palatino Linotype" panose="02040502050505030304" pitchFamily="18" charset="0"/>
              </a:rPr>
              <a:t>Memory Access Sequence in a trace from </a:t>
            </a:r>
            <a:r>
              <a:rPr lang="en-US" dirty="0" err="1">
                <a:latin typeface="Palatino Linotype" panose="02040502050505030304" pitchFamily="18" charset="0"/>
              </a:rPr>
              <a:t>sbox</a:t>
            </a:r>
            <a:r>
              <a:rPr lang="en-US" dirty="0">
                <a:latin typeface="Palatino Linotype" panose="02040502050505030304" pitchFamily="18" charset="0"/>
              </a:rPr>
              <a:t> function</a:t>
            </a:r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D57396AF-518C-3843-A400-343916360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719" y="1838850"/>
            <a:ext cx="1984210" cy="283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EEBF03-D711-5D45-B78C-CFD013D86052}"/>
              </a:ext>
            </a:extLst>
          </p:cNvPr>
          <p:cNvSpPr txBox="1"/>
          <p:nvPr/>
        </p:nvSpPr>
        <p:spPr>
          <a:xfrm>
            <a:off x="5963175" y="1838851"/>
            <a:ext cx="1837186" cy="206210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cs typeface="Arial" panose="020B0604020202020204" pitchFamily="34" charset="0"/>
              </a:rPr>
              <a:t>Let,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Palatino Linotype" panose="02040502050505030304" pitchFamily="18" charset="0"/>
                <a:cs typeface="Arial" panose="020B0604020202020204" pitchFamily="34" charset="0"/>
              </a:rPr>
              <a:t>sbox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cs typeface="Arial" panose="020B0604020202020204" pitchFamily="34" charset="0"/>
              </a:rPr>
              <a:t> base address = 0x401220.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br>
              <a:rPr lang="en-US" sz="16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cs typeface="Arial" panose="020B0604020202020204" pitchFamily="34" charset="0"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cs typeface="Arial" panose="020B0604020202020204" pitchFamily="34" charset="0"/>
              </a:rPr>
              <a:t>offset[0] = 0x40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cs typeface="Arial" panose="020B0604020202020204" pitchFamily="34" charset="0"/>
              </a:rPr>
              <a:t>offset[1] = 0x06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cs typeface="Arial" panose="020B0604020202020204" pitchFamily="34" charset="0"/>
              </a:rPr>
              <a:t>offset[2] = 0x42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  <a:cs typeface="Arial" panose="020B0604020202020204" pitchFamily="34" charset="0"/>
              </a:rPr>
              <a:t>offset[3] = 0x7A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FFD63-64CF-4546-82B2-CE8807D53566}"/>
              </a:ext>
            </a:extLst>
          </p:cNvPr>
          <p:cNvSpPr txBox="1"/>
          <p:nvPr/>
        </p:nvSpPr>
        <p:spPr>
          <a:xfrm>
            <a:off x="3227701" y="4139195"/>
            <a:ext cx="198421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Attacker identifies reads starting with 401xxx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37D2E8-F1AC-A64A-BC0E-B14E56953D1B}"/>
              </a:ext>
            </a:extLst>
          </p:cNvPr>
          <p:cNvSpPr txBox="1"/>
          <p:nvPr/>
        </p:nvSpPr>
        <p:spPr>
          <a:xfrm>
            <a:off x="5963164" y="3900954"/>
            <a:ext cx="1837186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Locate base address (BA) of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sbox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 from trace and calculate offset as address - BA. (Example: 0x401260 - 0x401220 = 0x40)</a:t>
            </a:r>
            <a:endParaRPr lang="en-US" sz="1600" dirty="0">
              <a:latin typeface="Palatino Linotype" panose="020405020505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7FDDB1-5C78-2142-BFAB-B367E9B9A651}"/>
              </a:ext>
            </a:extLst>
          </p:cNvPr>
          <p:cNvSpPr txBox="1"/>
          <p:nvPr/>
        </p:nvSpPr>
        <p:spPr>
          <a:xfrm>
            <a:off x="8551601" y="1838850"/>
            <a:ext cx="3233906" cy="25545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000000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000000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000000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000000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000000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000000"/>
              </a:solidFill>
              <a:latin typeface="Palatino Linotype" panose="02040502050505030304" pitchFamily="18" charset="0"/>
              <a:cs typeface="Arial" panose="020B0604020202020204" pitchFamily="3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Palatino Linotype" panose="02040502050505030304" pitchFamily="18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F545B6-7383-F242-B2D4-A1E123643C9A}"/>
              </a:ext>
            </a:extLst>
          </p:cNvPr>
          <p:cNvSpPr txBox="1"/>
          <p:nvPr/>
        </p:nvSpPr>
        <p:spPr>
          <a:xfrm>
            <a:off x="8662163" y="1967120"/>
            <a:ext cx="3015878" cy="5847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Palatino Linotype" panose="02040502050505030304" pitchFamily="18" charset="0"/>
              </a:rPr>
              <a:t>PT[0] = 0x6b PT[1] = 0xc1</a:t>
            </a:r>
          </a:p>
          <a:p>
            <a:pPr algn="ctr"/>
            <a:r>
              <a:rPr lang="en-US" sz="1600" dirty="0">
                <a:latin typeface="Palatino Linotype" panose="02040502050505030304" pitchFamily="18" charset="0"/>
              </a:rPr>
              <a:t>PT[2] = 0xbe PT[3] = 0xe2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73F1B3-35DB-494F-8512-18159BACE480}"/>
              </a:ext>
            </a:extLst>
          </p:cNvPr>
          <p:cNvSpPr txBox="1"/>
          <p:nvPr/>
        </p:nvSpPr>
        <p:spPr>
          <a:xfrm>
            <a:off x="8662163" y="3712981"/>
            <a:ext cx="3015878" cy="5847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Palatino Linotype" panose="02040502050505030304" pitchFamily="18" charset="0"/>
              </a:rPr>
              <a:t>KEY[0] = 0x2b KEY[1] = 0x28</a:t>
            </a:r>
          </a:p>
          <a:p>
            <a:pPr algn="ctr"/>
            <a:r>
              <a:rPr lang="en-US" sz="1600" dirty="0">
                <a:latin typeface="Palatino Linotype" panose="02040502050505030304" pitchFamily="18" charset="0"/>
              </a:rPr>
              <a:t>KEY[2] = 0xab KEY[3] = 0x09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A658E7-323F-E24A-BE4D-AB4986F4DFEC}"/>
              </a:ext>
            </a:extLst>
          </p:cNvPr>
          <p:cNvSpPr txBox="1"/>
          <p:nvPr/>
        </p:nvSpPr>
        <p:spPr>
          <a:xfrm>
            <a:off x="8912865" y="2680165"/>
            <a:ext cx="2511377" cy="47607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alatino Linotype" panose="02040502050505030304" pitchFamily="18" charset="0"/>
              </a:rPr>
              <a:t>XOR with offset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A0D9D8-E856-0146-9F91-B70B4D45EF7A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476473" y="3254895"/>
            <a:ext cx="7512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7E16D9-86D5-7C4F-8C5E-3941C1657CA8}"/>
              </a:ext>
            </a:extLst>
          </p:cNvPr>
          <p:cNvCxnSpPr/>
          <p:nvPr/>
        </p:nvCxnSpPr>
        <p:spPr>
          <a:xfrm flipV="1">
            <a:off x="5211926" y="3254894"/>
            <a:ext cx="7512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576A9F-AA24-934E-8C43-9E7E05885B59}"/>
              </a:ext>
            </a:extLst>
          </p:cNvPr>
          <p:cNvCxnSpPr/>
          <p:nvPr/>
        </p:nvCxnSpPr>
        <p:spPr>
          <a:xfrm flipV="1">
            <a:off x="7800354" y="3252272"/>
            <a:ext cx="751246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8B1E070-D328-B741-9E02-126BF9BEBD0C}"/>
              </a:ext>
            </a:extLst>
          </p:cNvPr>
          <p:cNvSpPr txBox="1"/>
          <p:nvPr/>
        </p:nvSpPr>
        <p:spPr>
          <a:xfrm>
            <a:off x="8551598" y="4393395"/>
            <a:ext cx="323390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Palatino Linotype" panose="02040502050505030304" pitchFamily="18" charset="0"/>
              </a:rPr>
              <a:t>Attacker has plaintext = 6bc1bee2</a:t>
            </a:r>
          </a:p>
          <a:p>
            <a:pPr algn="ctr"/>
            <a:r>
              <a:rPr lang="en-US" sz="1600" dirty="0">
                <a:latin typeface="Palatino Linotype" panose="02040502050505030304" pitchFamily="18" charset="0"/>
              </a:rPr>
              <a:t>Key  = Offset[</a:t>
            </a:r>
            <a:r>
              <a:rPr lang="en-US" sz="1600" dirty="0" err="1">
                <a:latin typeface="Palatino Linotype" panose="02040502050505030304" pitchFamily="18" charset="0"/>
              </a:rPr>
              <a:t>i</a:t>
            </a:r>
            <a:r>
              <a:rPr lang="en-US" sz="1600" dirty="0">
                <a:latin typeface="Palatino Linotype" panose="02040502050505030304" pitchFamily="18" charset="0"/>
              </a:rPr>
              <a:t>] ^ Plaintext[</a:t>
            </a:r>
            <a:r>
              <a:rPr lang="en-US" sz="1600" dirty="0" err="1">
                <a:latin typeface="Palatino Linotype" panose="02040502050505030304" pitchFamily="18" charset="0"/>
              </a:rPr>
              <a:t>i</a:t>
            </a:r>
            <a:r>
              <a:rPr lang="en-US" sz="1600" dirty="0">
                <a:latin typeface="Palatino Linotype" panose="02040502050505030304" pitchFamily="18" charset="0"/>
              </a:rPr>
              <a:t>]</a:t>
            </a:r>
          </a:p>
          <a:p>
            <a:pPr algn="ctr"/>
            <a:r>
              <a:rPr lang="en-US" sz="1600" dirty="0">
                <a:latin typeface="Palatino Linotype" panose="02040502050505030304" pitchFamily="18" charset="0"/>
              </a:rPr>
              <a:t>Example: 0x40^0x6b = 0x2b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D7283E-B9A9-BC44-9704-2A4EE483A494}"/>
              </a:ext>
            </a:extLst>
          </p:cNvPr>
          <p:cNvCxnSpPr>
            <a:cxnSpLocks/>
          </p:cNvCxnSpPr>
          <p:nvPr/>
        </p:nvCxnSpPr>
        <p:spPr>
          <a:xfrm>
            <a:off x="10168551" y="3156236"/>
            <a:ext cx="0" cy="58641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4A6E059-F604-0B45-AA6A-87D441A9325E}"/>
              </a:ext>
            </a:extLst>
          </p:cNvPr>
          <p:cNvSpPr/>
          <p:nvPr/>
        </p:nvSpPr>
        <p:spPr>
          <a:xfrm>
            <a:off x="3740113" y="2204175"/>
            <a:ext cx="983750" cy="180066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E5F38D-8782-5A4D-A56E-9510130FDE31}"/>
              </a:ext>
            </a:extLst>
          </p:cNvPr>
          <p:cNvSpPr/>
          <p:nvPr/>
        </p:nvSpPr>
        <p:spPr>
          <a:xfrm>
            <a:off x="3740113" y="3257073"/>
            <a:ext cx="983750" cy="180066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FD291B9-52AD-FA4A-B82C-0E5F725EB7EB}"/>
              </a:ext>
            </a:extLst>
          </p:cNvPr>
          <p:cNvSpPr/>
          <p:nvPr/>
        </p:nvSpPr>
        <p:spPr>
          <a:xfrm>
            <a:off x="3740113" y="2730624"/>
            <a:ext cx="983750" cy="180066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DC06AE-2634-344D-9465-EE0DF2F2DEB2}"/>
              </a:ext>
            </a:extLst>
          </p:cNvPr>
          <p:cNvSpPr/>
          <p:nvPr/>
        </p:nvSpPr>
        <p:spPr>
          <a:xfrm>
            <a:off x="3740113" y="3783521"/>
            <a:ext cx="983750" cy="180066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C84EF8-F5BB-3447-A9E1-74835459CF0E}"/>
              </a:ext>
            </a:extLst>
          </p:cNvPr>
          <p:cNvSpPr txBox="1"/>
          <p:nvPr/>
        </p:nvSpPr>
        <p:spPr>
          <a:xfrm>
            <a:off x="1527717" y="6198115"/>
            <a:ext cx="4435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 Linotype" panose="02040502050505030304" pitchFamily="18" charset="0"/>
              </a:rPr>
              <a:t>*Attack adapted from [1]</a:t>
            </a:r>
          </a:p>
        </p:txBody>
      </p:sp>
    </p:spTree>
    <p:extLst>
      <p:ext uri="{BB962C8B-B14F-4D97-AF65-F5344CB8AC3E}">
        <p14:creationId xmlns:p14="http://schemas.microsoft.com/office/powerpoint/2010/main" val="1265043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0848-57B2-E343-940C-8E380351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– Binary Trace Distinguishability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58B01-A756-9049-8213-2CF65AA3E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610054"/>
            <a:ext cx="4192947" cy="4449952"/>
          </a:xfrm>
        </p:spPr>
        <p:txBody>
          <a:bodyPr/>
          <a:lstStyle/>
          <a:p>
            <a:r>
              <a:rPr lang="en-US" dirty="0"/>
              <a:t>Adversary – classifying query existent in database or not.</a:t>
            </a:r>
          </a:p>
          <a:p>
            <a:r>
              <a:rPr lang="en-US" dirty="0"/>
              <a:t>5 existent and non-existent queries each.</a:t>
            </a:r>
          </a:p>
          <a:p>
            <a:r>
              <a:rPr lang="en-US" dirty="0"/>
              <a:t>20 traces for each such query.</a:t>
            </a:r>
          </a:p>
          <a:p>
            <a:r>
              <a:rPr lang="en-US" dirty="0"/>
              <a:t>Peak Accuracy = 80%</a:t>
            </a:r>
          </a:p>
          <a:p>
            <a:r>
              <a:rPr lang="en-US" dirty="0"/>
              <a:t>Peak Precision = 100%</a:t>
            </a:r>
          </a:p>
          <a:p>
            <a:r>
              <a:rPr lang="en-US" dirty="0"/>
              <a:t>Peak Recall = 75%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7DCC7F45-8CC3-474D-A1C2-871C6740CAE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347" y="1471945"/>
            <a:ext cx="6396395" cy="4357641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9D532-AFB0-B546-9B37-1AD8044E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685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F4575-3FCC-204B-927C-01677A433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7" y="295610"/>
            <a:ext cx="10723849" cy="1314443"/>
          </a:xfrm>
        </p:spPr>
        <p:txBody>
          <a:bodyPr/>
          <a:lstStyle/>
          <a:p>
            <a:r>
              <a:rPr lang="en-US" dirty="0"/>
              <a:t>Results – Multiclass Trace Distinguishability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65095-7BD4-FA48-9355-095A17901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610053"/>
            <a:ext cx="4321277" cy="4449953"/>
          </a:xfrm>
        </p:spPr>
        <p:txBody>
          <a:bodyPr/>
          <a:lstStyle/>
          <a:p>
            <a:r>
              <a:rPr lang="en-US" dirty="0"/>
              <a:t>Adversary - classifying traces from 12 unique queries, all existing in the database.</a:t>
            </a:r>
          </a:p>
          <a:p>
            <a:r>
              <a:rPr lang="en-US" dirty="0"/>
              <a:t>20 traces for each query.</a:t>
            </a:r>
          </a:p>
          <a:p>
            <a:r>
              <a:rPr lang="en-US" dirty="0" err="1"/>
              <a:t>Train:test</a:t>
            </a:r>
            <a:r>
              <a:rPr lang="en-US" dirty="0"/>
              <a:t> split – 90:10.</a:t>
            </a:r>
          </a:p>
          <a:p>
            <a:r>
              <a:rPr lang="en-US" dirty="0"/>
              <a:t>Peak Accuracy - 45%</a:t>
            </a:r>
          </a:p>
          <a:p>
            <a:r>
              <a:rPr lang="en-US" dirty="0"/>
              <a:t>For 6 labels accuracy can be as high as 80%.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EA5DF86-99A6-484A-AEB7-B34B1E566C8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710" y="1728040"/>
            <a:ext cx="6834086" cy="3758359"/>
          </a:xfrm>
          <a:prstGeom prst="rect">
            <a:avLst/>
          </a:prstGeom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C3F31-4444-BC41-B25F-64A2585A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008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0C75-4910-EB47-8E5C-1CF5AAC1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and Future Work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12A6C-ADE5-5744-ACEE-1100F4529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Side channels to FHE implementation are a serious threat to privacy.</a:t>
            </a:r>
          </a:p>
          <a:p>
            <a:r>
              <a:rPr lang="en-US" dirty="0"/>
              <a:t>Memory access patterns are one such side channel.</a:t>
            </a:r>
          </a:p>
          <a:p>
            <a:r>
              <a:rPr lang="en-US" dirty="0"/>
              <a:t>Trace-based side channels may be present in other FHE schemes as well.</a:t>
            </a:r>
          </a:p>
          <a:p>
            <a:r>
              <a:rPr lang="en-US" dirty="0"/>
              <a:t>We are currently extending this to privacy-preserving ML workload for detecting credit card transactions.</a:t>
            </a:r>
          </a:p>
          <a:p>
            <a:r>
              <a:rPr lang="en-US" dirty="0"/>
              <a:t>Countermeasures need to be developed to thwart for such side-channel leakage.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C1DE5-4C87-314A-97F7-B1ABA470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578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-up of question mark on a hardwood floor against a wall">
            <a:extLst>
              <a:ext uri="{FF2B5EF4-FFF2-40B4-BE49-F238E27FC236}">
                <a16:creationId xmlns:a16="http://schemas.microsoft.com/office/drawing/2014/main" id="{8689DBE8-F304-4B4B-9D87-2231B6D840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r="12442" b="-1"/>
          <a:stretch/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89B861-3098-1847-A973-F13A0ED1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371600"/>
            <a:ext cx="5758628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14EC2-D2A7-AB4E-BA83-F55E9BFD2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0C38C08-47C7-4847-B0BE-B9D8DEEB3D1B}" type="slidenum">
              <a:rPr lang="en-US" sz="900">
                <a:solidFill>
                  <a:srgbClr val="FFFFFF"/>
                </a:solidFill>
                <a:latin typeface="+mn-lt"/>
              </a:rPr>
              <a:pPr>
                <a:spcAft>
                  <a:spcPts val="600"/>
                </a:spcAft>
              </a:pPr>
              <a:t>38</a:t>
            </a:fld>
            <a:endParaRPr lang="en-US" sz="90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885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2BCC0-C372-F849-87A7-A26A5793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7DAFE-1A19-1247-AE11-1D7CA4876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610053"/>
            <a:ext cx="10363200" cy="447851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400" dirty="0" err="1"/>
              <a:t>Osvik</a:t>
            </a:r>
            <a:r>
              <a:rPr lang="en-US" sz="1400" dirty="0"/>
              <a:t>, Dag Arne, Adi Shamir, and Eran </a:t>
            </a:r>
            <a:r>
              <a:rPr lang="en-US" sz="1400" dirty="0" err="1"/>
              <a:t>Tromer</a:t>
            </a:r>
            <a:r>
              <a:rPr lang="en-US" sz="1400" dirty="0"/>
              <a:t>. 2006. Cache attacks and countermeasures: the case of </a:t>
            </a:r>
            <a:r>
              <a:rPr lang="en-US" sz="1400" dirty="0" err="1"/>
              <a:t>aes</a:t>
            </a:r>
            <a:r>
              <a:rPr lang="en-US" sz="1400" dirty="0"/>
              <a:t>. In Cryptographers’ track at the </a:t>
            </a:r>
            <a:r>
              <a:rPr lang="en-US" sz="1400" dirty="0" err="1"/>
              <a:t>rsa</a:t>
            </a:r>
            <a:r>
              <a:rPr lang="en-US" sz="1400" dirty="0"/>
              <a:t> conference, 1–20. Springer.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Nikola Samardzic, Axel Feldmann, Aleksandar Krastev, Srinivas Devadas, Ronald G. </a:t>
            </a:r>
            <a:r>
              <a:rPr lang="en-US" sz="1400" dirty="0" err="1"/>
              <a:t>Dreslinski</a:t>
            </a:r>
            <a:r>
              <a:rPr lang="en-US" sz="1400" dirty="0"/>
              <a:t>, Christopher </a:t>
            </a:r>
            <a:r>
              <a:rPr lang="en-US" sz="1400" dirty="0" err="1"/>
              <a:t>Peikert</a:t>
            </a:r>
            <a:r>
              <a:rPr lang="en-US" sz="1400" dirty="0"/>
              <a:t>, Daniel Sánchez: F1: A Fast and Programmable Accelerator for Fully Homomorphic Encryption. MICRO 2021: 238-252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err="1"/>
              <a:t>Sangpo</a:t>
            </a:r>
            <a:r>
              <a:rPr lang="en-US" sz="1400" dirty="0"/>
              <a:t> Kim, </a:t>
            </a:r>
            <a:r>
              <a:rPr lang="en-US" sz="1400" dirty="0" err="1"/>
              <a:t>Jongmin</a:t>
            </a:r>
            <a:r>
              <a:rPr lang="en-US" sz="1400" dirty="0"/>
              <a:t> Kim, Michael </a:t>
            </a:r>
            <a:r>
              <a:rPr lang="en-US" sz="1400" dirty="0" err="1"/>
              <a:t>Jaemin</a:t>
            </a:r>
            <a:r>
              <a:rPr lang="en-US" sz="1400" dirty="0"/>
              <a:t> Kim, </a:t>
            </a:r>
            <a:r>
              <a:rPr lang="en-US" sz="1400" dirty="0" err="1"/>
              <a:t>Wonkyung</a:t>
            </a:r>
            <a:r>
              <a:rPr lang="en-US" sz="1400" dirty="0"/>
              <a:t> Jung, John Kim, </a:t>
            </a:r>
            <a:r>
              <a:rPr lang="en-US" sz="1400" dirty="0" err="1"/>
              <a:t>Minsoo</a:t>
            </a:r>
            <a:r>
              <a:rPr lang="en-US" sz="1400" dirty="0"/>
              <a:t> </a:t>
            </a:r>
            <a:r>
              <a:rPr lang="en-US" sz="1400" dirty="0" err="1"/>
              <a:t>Rhu</a:t>
            </a:r>
            <a:r>
              <a:rPr lang="en-US" sz="1400" dirty="0"/>
              <a:t>, Jung Ho </a:t>
            </a:r>
            <a:r>
              <a:rPr lang="en-US" sz="1400" dirty="0" err="1"/>
              <a:t>Ahn</a:t>
            </a:r>
            <a:r>
              <a:rPr lang="en-US" sz="1400" dirty="0"/>
              <a:t>: BTS: an accelerator for bootstrappable fully homomorphic encryption. ISCA 2022: 711-725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Nikola Samardzic, Axel Feldmann, Aleksandar Krastev, Nathan Manohar, Nicholas </a:t>
            </a:r>
            <a:r>
              <a:rPr lang="en-US" sz="1400" dirty="0" err="1"/>
              <a:t>Genise</a:t>
            </a:r>
            <a:r>
              <a:rPr lang="en-US" sz="1400" dirty="0"/>
              <a:t>, Srinivas Devadas, Karim </a:t>
            </a:r>
            <a:r>
              <a:rPr lang="en-US" sz="1400" dirty="0" err="1"/>
              <a:t>Eldefrawy</a:t>
            </a:r>
            <a:r>
              <a:rPr lang="en-US" sz="1400" dirty="0"/>
              <a:t>, Chris </a:t>
            </a:r>
            <a:r>
              <a:rPr lang="en-US" sz="1400" dirty="0" err="1"/>
              <a:t>Peikert</a:t>
            </a:r>
            <a:r>
              <a:rPr lang="en-US" sz="1400" dirty="0"/>
              <a:t>, Daniel Sánchez: </a:t>
            </a:r>
            <a:r>
              <a:rPr lang="en-US" sz="1400" dirty="0" err="1"/>
              <a:t>CraterLake</a:t>
            </a:r>
            <a:r>
              <a:rPr lang="en-US" sz="1400" dirty="0"/>
              <a:t>: a hardware accelerator for efficient unbounded computation on encrypted </a:t>
            </a:r>
            <a:r>
              <a:rPr lang="en-US" sz="1400" dirty="0" err="1"/>
              <a:t>data.ISCA</a:t>
            </a:r>
            <a:r>
              <a:rPr lang="en-US" sz="1400" dirty="0"/>
              <a:t> 2022: 173-187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err="1"/>
              <a:t>Yinghao</a:t>
            </a:r>
            <a:r>
              <a:rPr lang="en-US" sz="1400" dirty="0"/>
              <a:t> Yang, </a:t>
            </a:r>
            <a:r>
              <a:rPr lang="en-US" sz="1400" dirty="0" err="1"/>
              <a:t>Huaizhi</a:t>
            </a:r>
            <a:r>
              <a:rPr lang="en-US" sz="1400" dirty="0"/>
              <a:t> Zhang, </a:t>
            </a:r>
            <a:r>
              <a:rPr lang="en-US" sz="1400" dirty="0" err="1"/>
              <a:t>Shengyu</a:t>
            </a:r>
            <a:r>
              <a:rPr lang="en-US" sz="1400" dirty="0"/>
              <a:t> Fan, Hang Lu, </a:t>
            </a:r>
            <a:r>
              <a:rPr lang="en-US" sz="1400" dirty="0" err="1"/>
              <a:t>Mingzhe</a:t>
            </a:r>
            <a:r>
              <a:rPr lang="en-US" sz="1400" dirty="0"/>
              <a:t> Zhang, </a:t>
            </a:r>
            <a:r>
              <a:rPr lang="en-US" sz="1400" dirty="0" err="1"/>
              <a:t>Xiaowei</a:t>
            </a:r>
            <a:r>
              <a:rPr lang="en-US" sz="1400" dirty="0"/>
              <a:t> Li: Poseidon: Practical Homomorphic Encryption Accelerator. HPCA 2023: 870-881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 err="1"/>
              <a:t>Jongmin</a:t>
            </a:r>
            <a:r>
              <a:rPr lang="en-US" sz="1400" dirty="0"/>
              <a:t> Kim, </a:t>
            </a:r>
            <a:r>
              <a:rPr lang="en-US" sz="1400" dirty="0" err="1"/>
              <a:t>Gwangho</a:t>
            </a:r>
            <a:r>
              <a:rPr lang="en-US" sz="1400" dirty="0"/>
              <a:t> Lee, </a:t>
            </a:r>
            <a:r>
              <a:rPr lang="en-US" sz="1400" dirty="0" err="1"/>
              <a:t>Sangpyo</a:t>
            </a:r>
            <a:r>
              <a:rPr lang="en-US" sz="1400" dirty="0"/>
              <a:t> Kim, Gina Sohn, </a:t>
            </a:r>
            <a:r>
              <a:rPr lang="en-US" sz="1400" dirty="0" err="1"/>
              <a:t>Minsoo</a:t>
            </a:r>
            <a:r>
              <a:rPr lang="en-US" sz="1400" dirty="0"/>
              <a:t> </a:t>
            </a:r>
            <a:r>
              <a:rPr lang="en-US" sz="1400" dirty="0" err="1"/>
              <a:t>Rhu</a:t>
            </a:r>
            <a:r>
              <a:rPr lang="en-US" sz="1400" dirty="0"/>
              <a:t>, John Kim, Jung Ho </a:t>
            </a:r>
            <a:r>
              <a:rPr lang="en-US" sz="1400" dirty="0" err="1"/>
              <a:t>Ahn</a:t>
            </a:r>
            <a:r>
              <a:rPr lang="en-US" sz="1400" dirty="0"/>
              <a:t>: ARK: Fully Homomorphic Encryption Accelerator with Runtime Data Generation and Inter-Operation Key Reuse. MICRO 2022: 1237-1254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39518-5C6A-8544-8642-B6B6EC8F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837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2E5F-A251-114F-E547-47D53D3A9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Publications and 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F8B9E-01CA-A044-9A3D-0ADA0D809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Characterizing Memory Side Channels in FHE Applications</a:t>
            </a:r>
            <a:endParaRPr lang="en-US" dirty="0"/>
          </a:p>
          <a:p>
            <a:r>
              <a:rPr lang="en-US" dirty="0"/>
              <a:t>Email : </a:t>
            </a:r>
            <a:r>
              <a:rPr lang="en-US" dirty="0" err="1"/>
              <a:t>asmita.pal@wisc.edu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69F40-4B1D-3F43-01B5-E68D8B45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8C08-47C7-4847-B0BE-B9D8DEEB3D1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11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4|18.5|5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"/>
</p:tagLst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42B0E7C6-1071-483F-A575-9AF7EE1B96AC}" vid="{E18014FF-B132-4F63-9D72-5B85E99D64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54428</TotalTime>
  <Words>2629</Words>
  <Application>Microsoft Macintosh PowerPoint</Application>
  <PresentationFormat>Widescreen</PresentationFormat>
  <Paragraphs>527</Paragraphs>
  <Slides>40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Calibri</vt:lpstr>
      <vt:lpstr>Courier New</vt:lpstr>
      <vt:lpstr>Grandview Display</vt:lpstr>
      <vt:lpstr>Helvetica</vt:lpstr>
      <vt:lpstr>Palatino Linotype</vt:lpstr>
      <vt:lpstr>source-serif-pro</vt:lpstr>
      <vt:lpstr>Wingdings</vt:lpstr>
      <vt:lpstr>DashVTI</vt:lpstr>
      <vt:lpstr>FHE applications for future systems</vt:lpstr>
      <vt:lpstr>Outline</vt:lpstr>
      <vt:lpstr>Risk of Outsourced Computation</vt:lpstr>
      <vt:lpstr>Wait…There’s More?</vt:lpstr>
      <vt:lpstr>Fully Homomorphic Encryption(FHE)</vt:lpstr>
      <vt:lpstr>Various FHE Schemes</vt:lpstr>
      <vt:lpstr>Fully Homomorphic Encryption(FHE)</vt:lpstr>
      <vt:lpstr>FHE - Encryption</vt:lpstr>
      <vt:lpstr>FHE - Encryption</vt:lpstr>
      <vt:lpstr>Fully Homomorphic Encryption(FHE)</vt:lpstr>
      <vt:lpstr>FHE Operations - Mult</vt:lpstr>
      <vt:lpstr>FHE Operations - Mult</vt:lpstr>
      <vt:lpstr>FHE Operations - Rotate</vt:lpstr>
      <vt:lpstr>Fully Homomorphic Encryption(FHE)</vt:lpstr>
      <vt:lpstr>FHE Operations - KeySwitch</vt:lpstr>
      <vt:lpstr>FHE Operations – Modulus Switching</vt:lpstr>
      <vt:lpstr>FHE operations - Bootstrapping</vt:lpstr>
      <vt:lpstr>Fully Homomorphic Encryption</vt:lpstr>
      <vt:lpstr>Outline</vt:lpstr>
      <vt:lpstr>Challenges of FHE systems</vt:lpstr>
      <vt:lpstr>Accelerating NTT</vt:lpstr>
      <vt:lpstr>Accelerating Key Switching</vt:lpstr>
      <vt:lpstr>Accelerating Bootstrapping</vt:lpstr>
      <vt:lpstr>Prior FHE techniques</vt:lpstr>
      <vt:lpstr>Discussion</vt:lpstr>
      <vt:lpstr>Outline</vt:lpstr>
      <vt:lpstr>Privacy problem</vt:lpstr>
      <vt:lpstr>Characterizing memory side channels in FHE Applications</vt:lpstr>
      <vt:lpstr>Memory Access Patterns as Side Channels</vt:lpstr>
      <vt:lpstr>Notion of Trace Distinguishability</vt:lpstr>
      <vt:lpstr>Experimental Setup - Trace</vt:lpstr>
      <vt:lpstr>Flamegraph of database search</vt:lpstr>
      <vt:lpstr>Comparative Flamegraphs</vt:lpstr>
      <vt:lpstr>Vulnerability of memory access patterns - AES</vt:lpstr>
      <vt:lpstr>Results – Binary Trace Distinguishability</vt:lpstr>
      <vt:lpstr>Results – Multiclass Trace Distinguishability</vt:lpstr>
      <vt:lpstr>Discussion and Future Work</vt:lpstr>
      <vt:lpstr>Questions?</vt:lpstr>
      <vt:lpstr>References</vt:lpstr>
      <vt:lpstr>Publications and 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Synthetic Trace Generation for Prefetching Championships</dc:title>
  <dc:creator>ASMITA PAL</dc:creator>
  <cp:lastModifiedBy>ASMITA PAL</cp:lastModifiedBy>
  <cp:revision>99</cp:revision>
  <dcterms:created xsi:type="dcterms:W3CDTF">2021-10-26T03:37:19Z</dcterms:created>
  <dcterms:modified xsi:type="dcterms:W3CDTF">2023-11-10T17:34:38Z</dcterms:modified>
</cp:coreProperties>
</file>